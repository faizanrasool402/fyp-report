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05" r:id="rId5"/>
    <p:sldId id="330" r:id="rId6"/>
    <p:sldId id="348" r:id="rId7"/>
    <p:sldId id="343" r:id="rId8"/>
    <p:sldId id="335" r:id="rId9"/>
    <p:sldId id="336" r:id="rId10"/>
    <p:sldId id="341" r:id="rId11"/>
    <p:sldId id="293" r:id="rId12"/>
    <p:sldId id="344" r:id="rId13"/>
    <p:sldId id="294" r:id="rId14"/>
    <p:sldId id="285" r:id="rId15"/>
    <p:sldId id="350" r:id="rId16"/>
    <p:sldId id="340" r:id="rId17"/>
    <p:sldId id="304" r:id="rId18"/>
    <p:sldId id="345" r:id="rId19"/>
    <p:sldId id="346" r:id="rId20"/>
    <p:sldId id="286" r:id="rId21"/>
    <p:sldId id="298" r:id="rId22"/>
    <p:sldId id="332" r:id="rId23"/>
    <p:sldId id="302" r:id="rId24"/>
    <p:sldId id="324" r:id="rId25"/>
    <p:sldId id="325" r:id="rId26"/>
    <p:sldId id="333" r:id="rId27"/>
    <p:sldId id="307" r:id="rId28"/>
    <p:sldId id="334" r:id="rId29"/>
    <p:sldId id="331" r:id="rId30"/>
    <p:sldId id="300" r:id="rId31"/>
    <p:sldId id="312" r:id="rId32"/>
    <p:sldId id="349" r:id="rId33"/>
    <p:sldId id="297" r:id="rId34"/>
    <p:sldId id="295" r:id="rId35"/>
    <p:sldId id="296" r:id="rId36"/>
    <p:sldId id="337" r:id="rId37"/>
    <p:sldId id="342" r:id="rId38"/>
    <p:sldId id="347" r:id="rId39"/>
    <p:sldId id="327" r:id="rId40"/>
    <p:sldId id="328" r:id="rId41"/>
    <p:sldId id="338" r:id="rId42"/>
    <p:sldId id="288" r:id="rId43"/>
    <p:sldId id="339" r:id="rId44"/>
    <p:sldId id="329" r:id="rId45"/>
    <p:sldId id="265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3" d="100"/>
          <a:sy n="73" d="100"/>
        </p:scale>
        <p:origin x="3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600" b="1">
                <a:solidFill>
                  <a:srgbClr val="222222"/>
                </a:solidFill>
                <a:latin typeface="Times New Roman"/>
              </a:rPr>
              <a:t>Model Test 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1F4E79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222222"/>
                    </a:solidFill>
                    <a:latin typeface="Times New Roman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DenseNet121</c:v>
                </c:pt>
                <c:pt idx="1">
                  <c:v>Custom CNN</c:v>
                </c:pt>
                <c:pt idx="2">
                  <c:v>EfficientNetB3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90.87</c:v>
                </c:pt>
                <c:pt idx="1">
                  <c:v>90.25</c:v>
                </c:pt>
                <c:pt idx="2">
                  <c:v>82.99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64E-4676-924C-C149BA239E0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latin typeface="Times New Roman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F703E-A315-4CEA-BA5F-5CDF0C6DAF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B5615D-62A1-4ABD-B2EA-0EB4570954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C44C7-C6ED-426B-9232-4C2DE1539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E2C1-9498-43AC-AB97-32D0D72F6F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06DAA-6AE9-4566-A8D3-856A3668B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B7AA1-8F40-4EA6-9ED5-CC82DBFB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44031-106A-409D-A8E5-203E4054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277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AA025-291A-4073-B6C9-F2119EB9E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C6C6E-B7A0-42B2-8903-6CC645C5F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5EF06-9020-4C96-AB1B-B5E8028F6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E2C1-9498-43AC-AB97-32D0D72F6F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3354A-5DB8-46E9-8A52-5F545A84E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7B2F2-892A-4D94-A89E-B63A0FC65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44031-106A-409D-A8E5-203E4054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90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C72CD-9C07-4A47-A23F-D9E311633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428B3-A32B-4D56-A87A-5BDEB311E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65576-B732-427B-8C0D-B37B5AEF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E2C1-9498-43AC-AB97-32D0D72F6F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4B76A-23FD-458B-8C9E-54CECD571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8B684-2F8B-48F4-97D6-81781DB98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44031-106A-409D-A8E5-203E4054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39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4BF73-816A-4562-8FE9-241E0E33C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D78D0-093F-4930-95D7-015BFF6476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E6AF9B-604F-4CF3-A002-53995F85F1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1CAD99-830C-487B-9655-13AAE8C09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E2C1-9498-43AC-AB97-32D0D72F6F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5E5DF-746A-4B19-8241-A2D1C7A3E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CE0B50-AF2C-44F4-B372-E08913ECA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44031-106A-409D-A8E5-203E4054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983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FA8B8-67AA-40B2-B474-D5182BB55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A4252-B705-4C74-8F4B-7AEF6166B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5BFDE-559E-469E-BE8C-F54A433C3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9CAA2C-B5BD-44D3-97EC-502F101BB5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5BF7F2-EC61-491A-A57E-EFDB64D22D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E2AB44-A279-45B5-87EF-1A14D328C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E2C1-9498-43AC-AB97-32D0D72F6F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69BF83-8026-4AA8-8685-AC8D817F8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A486D9-A235-4F04-97EA-651D6067D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44031-106A-409D-A8E5-203E4054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906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B87D1-68CA-4687-BBA7-DDE53C40D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B0F71D-4783-4146-8AD4-EDF064F76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E2C1-9498-43AC-AB97-32D0D72F6F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F8C860-0C2F-4E44-A4BB-8D365F683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DD795F-4812-4FAB-AE00-BEC2612C8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44031-106A-409D-A8E5-203E4054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394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35592D-DED3-4C10-89AF-37E650593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E2C1-9498-43AC-AB97-32D0D72F6F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3B6B89-1668-485A-9331-5D1137450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10415-4487-419C-B629-E746539AF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44031-106A-409D-A8E5-203E4054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167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39281-24F2-476B-A949-74E268528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724A7-2C8B-4E0A-AB98-572A711F6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C26616-035E-4385-B8C9-7CEF400AE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068BC-E50E-4D81-AC2F-517E8EFA1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E2C1-9498-43AC-AB97-32D0D72F6F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D8B62-BAF3-4983-87FB-50DFC580F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F61FE-61E3-42D0-B296-C39C55C53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44031-106A-409D-A8E5-203E4054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974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1881A-7F85-4D05-BAF5-FB3ED1816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9517A-FFAB-4B4E-A139-A7230FFBC7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3A7E2-4E53-4B0F-8AFD-3D2A91CF9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31BA6-387D-4A09-B15C-ECD61B27F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E2C1-9498-43AC-AB97-32D0D72F6F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A8AFA1-9190-4BC1-B657-221F320E3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77A206-21D8-49DE-8F54-4DFDDFB12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44031-106A-409D-A8E5-203E4054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83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BBF8A-D1F3-4CC1-9A0D-9ABEC87BE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78FD13-11B8-4760-AEF7-020B77526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C2201-98E8-475E-9FEC-59AE346DA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E2C1-9498-43AC-AB97-32D0D72F6F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2DBB0-AAD2-426F-AA26-47F3A5D58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40724-CF0F-4E19-90D9-F0F95577E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44031-106A-409D-A8E5-203E4054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575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D33656-5724-44DE-87E2-DED37BE6BF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8DDB63-B4D1-4CC8-80EC-CB74A1FC7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BB37D-8C6D-4EE7-AF2F-BA4F63B2D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E2C1-9498-43AC-AB97-32D0D72F6F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14BB0-E138-42A9-9FD3-8215D8A1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A2175-F2B4-4D40-9585-2589FBFA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44031-106A-409D-A8E5-203E4054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2513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19AF0E-C667-4C4A-8662-B292C949E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5BA33-13B7-454F-ACD5-03A5DB388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EE86F-DEC7-4822-AFB6-3C164BECA5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0E2C1-9498-43AC-AB97-32D0D72F6F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13579-881B-4553-9710-635969B418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1666D-8094-4ED1-AF83-F01B841D7E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144031-106A-409D-A8E5-203E4054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42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2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2BDAC-81CF-42C2-80E0-9C14E07D3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9828" y="250162"/>
            <a:ext cx="9144000" cy="100715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5A117-BC92-49B6-9DBB-487427172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9828" y="2781459"/>
            <a:ext cx="9144000" cy="2205518"/>
          </a:xfrm>
        </p:spPr>
        <p:txBody>
          <a:bodyPr>
            <a:normAutofit fontScale="70000" lnSpcReduction="20000"/>
          </a:bodyPr>
          <a:lstStyle/>
          <a:p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Muhammad Ehtisham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Hanif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ECI-IT-21-064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Humair Hayat                                      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ECI-IT-21-058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Faizan Rasool                                       ECI-IT-21-057</a:t>
            </a:r>
          </a:p>
          <a:p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Supervisor: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 Aisha Shafique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CEE16DD-A9A7-4C6D-A4AD-BDF077B8F79D}"/>
              </a:ext>
            </a:extLst>
          </p:cNvPr>
          <p:cNvSpPr txBox="1">
            <a:spLocks/>
          </p:cNvSpPr>
          <p:nvPr/>
        </p:nvSpPr>
        <p:spPr>
          <a:xfrm>
            <a:off x="1524000" y="5222650"/>
            <a:ext cx="9506858" cy="1256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Computing</a:t>
            </a:r>
            <a:endParaRPr lang="en-GB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Engineering</a:t>
            </a: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Sciences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Technology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Hamdard University Islamabad Campus</a:t>
            </a:r>
          </a:p>
          <a:p>
            <a:endParaRPr lang="en-US" sz="3000" b="1" dirty="0"/>
          </a:p>
          <a:p>
            <a:endParaRPr lang="en-US" sz="3000" b="1" dirty="0"/>
          </a:p>
          <a:p>
            <a:endParaRPr lang="en-US" dirty="0"/>
          </a:p>
          <a:p>
            <a:endParaRPr lang="en-US" i="1" dirty="0"/>
          </a:p>
          <a:p>
            <a:endParaRPr lang="en-US" i="1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051" name="Picture 1">
            <a:extLst>
              <a:ext uri="{FF2B5EF4-FFF2-40B4-BE49-F238E27FC236}">
                <a16:creationId xmlns:a16="http://schemas.microsoft.com/office/drawing/2014/main" id="{0A1F67D3-5E34-4C9E-921B-27B894075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0478" y="1257316"/>
            <a:ext cx="1662701" cy="1524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9786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92331-D18B-4435-8569-D14182413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2098"/>
            <a:ext cx="10515600" cy="4713571"/>
          </a:xfrm>
        </p:spPr>
        <p:txBody>
          <a:bodyPr>
            <a:noAutofit/>
          </a:bodyPr>
          <a:lstStyle/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&amp; Objectives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Techniques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Architectures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&amp; Evaluation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</p:spTree>
    <p:extLst>
      <p:ext uri="{BB962C8B-B14F-4D97-AF65-F5344CB8AC3E}">
        <p14:creationId xmlns:p14="http://schemas.microsoft.com/office/powerpoint/2010/main" val="3186909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A0277-0C7D-4670-B1CF-B34265545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188" y="1743596"/>
            <a:ext cx="10714703" cy="4642690"/>
          </a:xfrm>
        </p:spPr>
        <p:txBody>
          <a:bodyPr wrap="square">
            <a:normAutofit/>
          </a:bodyPr>
          <a:lstStyle/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Tuberculosis, COVID-19, and Pneumonia are serious lung diseases that show up on chest X-rays.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chest X-ray is the cheapest and most widely available way to screen for them.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X-rays by hand is slow, expensive, and easy to get wrong when the workload is high.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Deep-learning models can read an X-ray and flag the likely disease automatically.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checks for all three diseases from one simple web app.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doctors a fast, reliable second opinion, especially where specialists are few.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</p:spTree>
    <p:extLst>
      <p:ext uri="{BB962C8B-B14F-4D97-AF65-F5344CB8AC3E}">
        <p14:creationId xmlns:p14="http://schemas.microsoft.com/office/powerpoint/2010/main" val="2968317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A0277-0C7D-4670-B1CF-B34265545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820" y="1743596"/>
            <a:ext cx="11262360" cy="4642690"/>
          </a:xfrm>
        </p:spPr>
        <p:txBody>
          <a:bodyPr wrap="square"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Aim: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AI system that detects Tuberculosis, COVID-19, and Pneumonia from chest X-rays.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three deep-learning models on one unified four-class dataset and compare them fairly.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transfer learning and augmentation to handle small medical datasets.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 all models in one easy web app and test them on unseen X-rays.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</p:spTree>
    <p:extLst>
      <p:ext uri="{BB962C8B-B14F-4D97-AF65-F5344CB8AC3E}">
        <p14:creationId xmlns:p14="http://schemas.microsoft.com/office/powerpoint/2010/main" val="1743831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6416F2-5994-F6A7-1C7D-257C385BC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6BA2E-FD48-2023-6B31-02902A2C1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209C2-A03E-E105-E3DA-D0058F632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035" y="1704408"/>
            <a:ext cx="11203655" cy="2763090"/>
          </a:xfrm>
        </p:spPr>
        <p:txBody>
          <a:bodyPr wrap="square">
            <a:normAutofit fontScale="92500" lnSpcReduction="10000"/>
          </a:bodyPr>
          <a:lstStyle/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chest X-rays are the first tool for spotting lung disease, but reading them needs trained radiologists, who are scarce.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cost: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reading is slow, costly and prone to error, which delays treatment and puts patients at risk.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need: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fast, reliable, low-cost way to screen X-rays for Tuberculosis, COVID-19 and Pneumonia.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web application that classifies all four classes using three independent models, so one upload gives three cross-checked opinions.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BB5EB7-2543-359E-0A9A-B5CCB47842B0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</p:spTree>
    <p:extLst>
      <p:ext uri="{BB962C8B-B14F-4D97-AF65-F5344CB8AC3E}">
        <p14:creationId xmlns:p14="http://schemas.microsoft.com/office/powerpoint/2010/main" val="144780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2632D5-E82A-F90C-4E03-3E1250183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E1C24-477C-FCF9-3BAB-7C687CAB6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Chest X-rays as Input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3B7B90-B74B-4F4C-BF35-FE746810EBCF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D82B6A-E3BD-C5AF-AFD3-A4491FEFF75A}"/>
              </a:ext>
            </a:extLst>
          </p:cNvPr>
          <p:cNvSpPr txBox="1"/>
          <p:nvPr/>
        </p:nvSpPr>
        <p:spPr>
          <a:xfrm>
            <a:off x="435497" y="1794813"/>
            <a:ext cx="11321006" cy="2131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available: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lmost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clinic has an X-ray machine, while CT scanners are costly and concentrated in cities.</a:t>
            </a:r>
          </a:p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cost and fast: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X-ray takes minutes and costs a fraction of a CT scan, so it suits large-scale screening.</a:t>
            </a:r>
          </a:p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Much lower dose: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chest X-ray delivers about 0.1 mSv against roughly 7 mSv for a chest CT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89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2632D5-E82A-F90C-4E03-3E1250183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E1C24-477C-FCF9-3BAB-7C687CAB6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These Three Diseases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3B7B90-B74B-4F4C-BF35-FE746810EBCF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D82B6A-E3BD-C5AF-AFD3-A4491FEFF75A}"/>
              </a:ext>
            </a:extLst>
          </p:cNvPr>
          <p:cNvSpPr txBox="1"/>
          <p:nvPr/>
        </p:nvSpPr>
        <p:spPr>
          <a:xfrm>
            <a:off x="435497" y="1807876"/>
            <a:ext cx="11321006" cy="2528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Clinically significant: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uberculosis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COVID-19 and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Pneumonia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among the most common and serious lung infections worldwide.</a:t>
            </a:r>
          </a:p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Visible on X-ray: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three change the appearance of the lungs on a chest radiograph, so one imaging type covers them all.</a:t>
            </a:r>
          </a:p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exists: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has an established labelled dataset, which makes the study reproducible.</a:t>
            </a:r>
          </a:p>
        </p:txBody>
      </p:sp>
    </p:spTree>
    <p:extLst>
      <p:ext uri="{BB962C8B-B14F-4D97-AF65-F5344CB8AC3E}">
        <p14:creationId xmlns:p14="http://schemas.microsoft.com/office/powerpoint/2010/main" val="383689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C56FF2B-9A11-D04B-8165-90D843920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958503"/>
              </p:ext>
            </p:extLst>
          </p:nvPr>
        </p:nvGraphicFramePr>
        <p:xfrm>
          <a:off x="195942" y="1327063"/>
          <a:ext cx="117957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8940">
                  <a:extLst>
                    <a:ext uri="{9D8B030D-6E8A-4147-A177-3AD203B41FA5}">
                      <a16:colId xmlns:a16="http://schemas.microsoft.com/office/drawing/2014/main" val="724794875"/>
                    </a:ext>
                  </a:extLst>
                </a:gridCol>
                <a:gridCol w="3126338">
                  <a:extLst>
                    <a:ext uri="{9D8B030D-6E8A-4147-A177-3AD203B41FA5}">
                      <a16:colId xmlns:a16="http://schemas.microsoft.com/office/drawing/2014/main" val="3190490548"/>
                    </a:ext>
                  </a:extLst>
                </a:gridCol>
                <a:gridCol w="2771542">
                  <a:extLst>
                    <a:ext uri="{9D8B030D-6E8A-4147-A177-3AD203B41FA5}">
                      <a16:colId xmlns:a16="http://schemas.microsoft.com/office/drawing/2014/main" val="1335411580"/>
                    </a:ext>
                  </a:extLst>
                </a:gridCol>
                <a:gridCol w="2948940">
                  <a:extLst>
                    <a:ext uri="{9D8B030D-6E8A-4147-A177-3AD203B41FA5}">
                      <a16:colId xmlns:a16="http://schemas.microsoft.com/office/drawing/2014/main" val="2490814329"/>
                    </a:ext>
                  </a:extLst>
                </a:gridCol>
              </a:tblGrid>
              <a:tr h="26731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Study/Reference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Contributions/Methodology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 to our Study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515068"/>
                  </a:ext>
                </a:extLst>
              </a:tr>
              <a:tr h="115835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Colombi, D., Panzeri, M. M., Vancheri, S. G.,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Richeldi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L., &amp;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Sverzellati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N. (2025). </a:t>
                      </a:r>
                      <a:r>
                        <a:rPr lang="en-US" sz="12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Computer-aided evaluation of interstitial lung diseases: From HRCT diagnosis to prognostic stratification.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Diagnostics, 15(6), 943.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computer-aided diagnosis (CAD) methods using AI and radiomics on HRCT scans for ILD detection and prognosis stratification. Highlighted use of deep learning and radiomics for automated interpretation.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Demonstrated that AI and radiomics can accurately support diagnosis and predict prognosis, reducing reliance on manual assessments.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that CNN-based and AI-driven tools can be extended beyond cancer to ILD detection, reinforcing the value of AI in medical imaging for early and accurate diagnosis.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551320"/>
                  </a:ext>
                </a:extLst>
              </a:tr>
              <a:tr h="99639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Müller, H.,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Atnafu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S. Y., Engelhardt, S., &amp;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Depeursinge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A. (2025). </a:t>
                      </a:r>
                      <a:r>
                        <a:rPr lang="en-US" sz="12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Computer-aided diagnosis (CAD) of lung cancer: The road ahead.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Informatics, 12(1), 18.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Surveyed CAD systems for lung cancer, categorizing existing AI approaches, especially deep CNNs, hybrid ML, and radiomics-based methods. Discussed architectural design, data preprocessing, and integration challenges.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 that deep CNNs and hybrid approaches outperform traditional techniques. Noted challenges of data imbalance, explainability, and clinical adoption.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our study by demonstrating CNN superiority in lung cancer detection tasks and aligning with our aim to build robust CNN-based solutions for multi-disease detection.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144884"/>
                  </a:ext>
                </a:extLst>
              </a:tr>
              <a:tr h="133656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Zahid, M., Khan, M. A., Rehman, S. U., Saba, T., Alghamdi, M., &amp; Rehman, A. (2024). </a:t>
                      </a:r>
                      <a:r>
                        <a:rPr lang="en-US" sz="12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intelligent computer-aided diagnostic system for early detection of lung cancer using hybrid deep features.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Multimedia Tools and Applications, 83, 12345–12367.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CAD system integrating hybrid deep features (CNN + handcrafted features) for lung cancer detection from CT scans. Used feature fusion and classification models to enhance performance.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high diagnostic accuracy and robustness by combining CNN features with traditional texture-based features, improving early detection of lung cancer.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Highlights the potential of hybrid feature-based CNN approaches, guiding our system to explore ensemble and hybrid methods for improved lung disease detection.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512712"/>
                  </a:ext>
                </a:extLst>
              </a:tr>
              <a:tr h="115835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Ignatius, J. L. P., Selvakumar, S., Gabriel, K., Kailash, A. B.,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Keertivaas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S., &amp; Prajan, S. A. J. A. R. (2023). </a:t>
                      </a:r>
                      <a:r>
                        <a:rPr lang="en-US" sz="12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Histogram Matched Chest X-Rays Based Tuberculosis Detection Using CNN.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Computer Systems Science &amp; Engineering, 44(1), 81–97.</a:t>
                      </a:r>
                      <a:endParaRPr lang="da-DK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CNN-based TB detection system using chest X-rays with histogram matching as a preprocessing technique. Evaluated 10 pre-trained CNNs (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DenseNet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VGG,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Inception).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ResNet50 and DenseNet169 achieved the best results, with histogram matching improving accuracy to 99.58%, sensitivity to 99.82%, and specificity to 99.67%.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Demonstrates how preprocessing (histogram matching) enhances CNN performance, supporting reliable detection in clinical imaging tasks.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750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208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C56FF2B-9A11-D04B-8165-90D843920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362667"/>
              </p:ext>
            </p:extLst>
          </p:nvPr>
        </p:nvGraphicFramePr>
        <p:xfrm>
          <a:off x="402588" y="1480628"/>
          <a:ext cx="11386824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706">
                  <a:extLst>
                    <a:ext uri="{9D8B030D-6E8A-4147-A177-3AD203B41FA5}">
                      <a16:colId xmlns:a16="http://schemas.microsoft.com/office/drawing/2014/main" val="724794875"/>
                    </a:ext>
                  </a:extLst>
                </a:gridCol>
                <a:gridCol w="3017954">
                  <a:extLst>
                    <a:ext uri="{9D8B030D-6E8A-4147-A177-3AD203B41FA5}">
                      <a16:colId xmlns:a16="http://schemas.microsoft.com/office/drawing/2014/main" val="3190490548"/>
                    </a:ext>
                  </a:extLst>
                </a:gridCol>
                <a:gridCol w="2675458">
                  <a:extLst>
                    <a:ext uri="{9D8B030D-6E8A-4147-A177-3AD203B41FA5}">
                      <a16:colId xmlns:a16="http://schemas.microsoft.com/office/drawing/2014/main" val="1335411580"/>
                    </a:ext>
                  </a:extLst>
                </a:gridCol>
                <a:gridCol w="2846706">
                  <a:extLst>
                    <a:ext uri="{9D8B030D-6E8A-4147-A177-3AD203B41FA5}">
                      <a16:colId xmlns:a16="http://schemas.microsoft.com/office/drawing/2014/main" val="24908143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Study/Reference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Contributions/Methodology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 to our Study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515068"/>
                  </a:ext>
                </a:extLst>
              </a:tr>
              <a:tr h="114397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Varshni, D., Nijhawan, R., Thakral, K., Mittal, A., &amp; Agarwal, L. (2019). </a:t>
                      </a:r>
                      <a:r>
                        <a:rPr lang="en-US" sz="12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Pneumonia Detection Using CNN based Feature Extraction.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Proc. Int. Conf. on Electrical, Computer and Communication Technologies (ICECCT), pp. 1–7.</a:t>
                      </a:r>
                      <a:endParaRPr lang="da-DK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pre-trained CNNs (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DenseNet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VGG,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Xception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for feature extraction on the ChestX-ray14 dataset, followed by classifiers (SVM, RF, KNN, NB). Hyperparameter tuning applied for optimization.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DenseNet-169 with SVM achieved the best performance (AUC = 0.8002), outperforming earlier models like logistic regression.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the effectiveness of hybrid deep learning + classifier models, aligning with our aim to design robust AI-based medical diagnostic systems..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702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208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58C87C-42BC-58FB-612F-9CFC677B5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F5AD2-6274-EE8E-8D8D-2F290C028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D8426-0369-1EDE-3F23-308D9DB83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290" y="1655074"/>
            <a:ext cx="11139293" cy="457590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Single-disease focus: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studies detect only one disease; our system covers TB, COVID-19, and Pneumonia in one tool.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Costly imaging: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works depend on CT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we use widely available chest X-rays.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Research-only models: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methods stay as notebooks or experiments; we deploy a working web application for real users.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input safety: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assume valid inputs; our input validator rejects non X-ray images before classification.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 tools: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earlier work is one model per disease; we unify three models behind one interface with confidence scores.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D28D08-24D5-C2A4-A1C3-ABA780A9349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</p:spTree>
    <p:extLst>
      <p:ext uri="{BB962C8B-B14F-4D97-AF65-F5344CB8AC3E}">
        <p14:creationId xmlns:p14="http://schemas.microsoft.com/office/powerpoint/2010/main" val="3539668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CDC4598-92AE-653D-569E-E94069913E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4631" y="1420824"/>
            <a:ext cx="11082738" cy="496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1: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TB Chest Radiography Database (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Kaggle, Tawsifurrahman)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Normal and Tuberculosis chest X-rays.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2: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Covid19-dataset (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Tawsifurrahman)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COVID-19, Normal and Viral Pneumonia images.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3: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Chest X-Ray Images: Pneumonia (Kaggle, Paul Mooney) provides Normal and Pneumonia images.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Merged: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3,227 images after duplicate removal, mapped into one label space of Normal, Tuberculosis, COVID-19 and Pneumonia.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merge: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model trains on the same images and labels, so the three architectures can be compared fairly.</a:t>
            </a:r>
          </a:p>
        </p:txBody>
      </p:sp>
    </p:spTree>
    <p:extLst>
      <p:ext uri="{BB962C8B-B14F-4D97-AF65-F5344CB8AC3E}">
        <p14:creationId xmlns:p14="http://schemas.microsoft.com/office/powerpoint/2010/main" val="3556183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92331-D18B-4435-8569-D14182413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164" y="1763485"/>
            <a:ext cx="11528322" cy="1672047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dataset: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three source datasets are merged into one 4-class label space of 3,227 images.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C56FF2B-9A11-D04B-8165-90D843920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97002"/>
              </p:ext>
            </p:extLst>
          </p:nvPr>
        </p:nvGraphicFramePr>
        <p:xfrm>
          <a:off x="561704" y="2411091"/>
          <a:ext cx="10998925" cy="3731085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2824189">
                  <a:extLst>
                    <a:ext uri="{9D8B030D-6E8A-4147-A177-3AD203B41FA5}">
                      <a16:colId xmlns:a16="http://schemas.microsoft.com/office/drawing/2014/main" val="2170686414"/>
                    </a:ext>
                  </a:extLst>
                </a:gridCol>
                <a:gridCol w="2824189">
                  <a:extLst>
                    <a:ext uri="{9D8B030D-6E8A-4147-A177-3AD203B41FA5}">
                      <a16:colId xmlns:a16="http://schemas.microsoft.com/office/drawing/2014/main" val="4061613076"/>
                    </a:ext>
                  </a:extLst>
                </a:gridCol>
                <a:gridCol w="2824189">
                  <a:extLst>
                    <a:ext uri="{9D8B030D-6E8A-4147-A177-3AD203B41FA5}">
                      <a16:colId xmlns:a16="http://schemas.microsoft.com/office/drawing/2014/main" val="2762325299"/>
                    </a:ext>
                  </a:extLst>
                </a:gridCol>
                <a:gridCol w="2526358">
                  <a:extLst>
                    <a:ext uri="{9D8B030D-6E8A-4147-A177-3AD203B41FA5}">
                      <a16:colId xmlns:a16="http://schemas.microsoft.com/office/drawing/2014/main" val="1679621392"/>
                    </a:ext>
                  </a:extLst>
                </a:gridCol>
              </a:tblGrid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Class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Images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/>
                        <a:t>Train / Val / Test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/>
                        <a:t>Sources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7088596"/>
                  </a:ext>
                </a:extLst>
              </a:tr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 err="1"/>
                        <a:t>Normal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1,200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/>
                        <a:t>840 / 180 / 180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3 datasets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789626"/>
                  </a:ext>
                </a:extLst>
              </a:tr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Tuberculosis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697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488 / 105 / 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1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8967466"/>
                  </a:ext>
                </a:extLst>
              </a:tr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COVID-19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130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91 / 20 / 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1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9550864"/>
                  </a:ext>
                </a:extLst>
              </a:tr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Pneumonia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1,200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841 / 180 / 179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1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208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75F5AA-4CCA-0F35-775E-D82A8F40F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12B95-D9EF-73C9-2571-605BE1CA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Chest X-rays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D86D94-1169-2DDF-97EB-518292760551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DE257EE-981D-2773-9F85-9D75421C9D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2832" y="1603618"/>
            <a:ext cx="121920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Chest X-rays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few examples from the datasets used to train and test the models.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sample_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125" y="2311504"/>
            <a:ext cx="7551008" cy="383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958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92331-D18B-4435-8569-D14182413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80414"/>
            <a:ext cx="114300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as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X-rays are black-and-white, but our models expect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color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images, so we load each X-ray as 3 channels (RGB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Resize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image is resized to the size its model needs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224, or 150 pixels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scale the pixel values so the model reads them correctly. The two pre-trained models use their original scaling; the custom CNN scales pixels to a 0–1 range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Augment (training only):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during training we randomly flip, rotate, zoom, shift, and change contrast of images to give the model more variety and stop it memorizing.</a:t>
            </a:r>
          </a:p>
          <a:p>
            <a:pPr marL="0" indent="0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when live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a real user uploads an X-ray, we apply the exact same reading and resizing steps as in training, so the model behaves consistently.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</p:spTree>
    <p:extLst>
      <p:ext uri="{BB962C8B-B14F-4D97-AF65-F5344CB8AC3E}">
        <p14:creationId xmlns:p14="http://schemas.microsoft.com/office/powerpoint/2010/main" val="349134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A96DF8-84D3-6DF3-0B08-8A0EFFC45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B00A-6CBF-3C91-6D58-CA205FBB4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Pipeline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495782-9CD3-17C3-108C-1BA2DE7BC367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pic>
        <p:nvPicPr>
          <p:cNvPr id="5" name="Picture 4" descr="preprocessin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17" y="1470000"/>
            <a:ext cx="10571766" cy="486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477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A96DF8-84D3-6DF3-0B08-8A0EFFC45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B00A-6CBF-3C91-6D58-CA205FBB4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System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495782-9CD3-17C3-108C-1BA2DE7BC367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pic>
        <p:nvPicPr>
          <p:cNvPr id="5" name="Picture 4" descr="syste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784" y="1470000"/>
            <a:ext cx="10438431" cy="486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477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2632D5-E82A-F90C-4E03-3E1250183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E1C24-477C-FCF9-3BAB-7C687CAB6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3B7B90-B74B-4F4C-BF35-FE746810EBCF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D82B6A-E3BD-C5AF-AFD3-A4491FEFF75A}"/>
              </a:ext>
            </a:extLst>
          </p:cNvPr>
          <p:cNvSpPr txBox="1"/>
          <p:nvPr/>
        </p:nvSpPr>
        <p:spPr>
          <a:xfrm>
            <a:off x="435497" y="1820939"/>
            <a:ext cx="11321006" cy="2537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shared dataset: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three architectures train on the same 4-class data, splits, augmentation and classification head.</a:t>
            </a:r>
          </a:p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EfficientNetB3 and DenseNet121: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from ImageNet, then fine-tuned on the chest X-ray data.</a:t>
            </a:r>
          </a:p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CNN: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from scratch, so the benefit of pre-training can be measured directly.</a:t>
            </a:r>
          </a:p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Serving: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three run on every upload and give independent verdicts over the same four classes.</a:t>
            </a:r>
          </a:p>
        </p:txBody>
      </p:sp>
    </p:spTree>
    <p:extLst>
      <p:ext uri="{BB962C8B-B14F-4D97-AF65-F5344CB8AC3E}">
        <p14:creationId xmlns:p14="http://schemas.microsoft.com/office/powerpoint/2010/main" val="383689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2632D5-E82A-F90C-4E03-3E1250183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E1C24-477C-FCF9-3BAB-7C687CAB6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These Three Models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3B7B90-B74B-4F4C-BF35-FE746810EBCF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D82B6A-E3BD-C5AF-AFD3-A4491FEFF75A}"/>
              </a:ext>
            </a:extLst>
          </p:cNvPr>
          <p:cNvSpPr txBox="1"/>
          <p:nvPr/>
        </p:nvSpPr>
        <p:spPr>
          <a:xfrm>
            <a:off x="331799" y="1794813"/>
            <a:ext cx="1132100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EfficientNetB3: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efficient transfer-learning baseline that reaches good accuracy from a compact design.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DenseNet121: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dense connections reuse features from every earlier layer, which suits subtle medical patterns.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CNN: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from scratch, it measures how much ImageNet pre-training actually contributes.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only three: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answers a different question, so adding more would raise training cost without adding insight.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 comparison: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three share one dataset, one split, the same augmentation and the same epoch budget, so the backbone is the main variable.</a:t>
            </a:r>
          </a:p>
        </p:txBody>
      </p:sp>
    </p:spTree>
    <p:extLst>
      <p:ext uri="{BB962C8B-B14F-4D97-AF65-F5344CB8AC3E}">
        <p14:creationId xmlns:p14="http://schemas.microsoft.com/office/powerpoint/2010/main" val="383689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A96DF8-84D3-6DF3-0B08-8A0EFFC45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B00A-6CBF-3C91-6D58-CA205FBB4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Model Architectures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495782-9CD3-17C3-108C-1BA2DE7BC367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pic>
        <p:nvPicPr>
          <p:cNvPr id="5" name="Picture 4" descr="model_architec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075" y="1470000"/>
            <a:ext cx="10503850" cy="486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477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Splitting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F74362A-AAC3-4F98-4C1F-593C1AD4BD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2452" y="2214606"/>
            <a:ext cx="10413593" cy="2593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split: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70% training, 15% validation and 15% test, created once and reused by every model.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Grouped by patient: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images of one patient stay in a single split, so nothing leaks between train and test.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2,260 training, 485 validation and 482 test images.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test set is never seen during training, so the reported accuracy is honest.</a:t>
            </a:r>
          </a:p>
        </p:txBody>
      </p:sp>
    </p:spTree>
    <p:extLst>
      <p:ext uri="{BB962C8B-B14F-4D97-AF65-F5344CB8AC3E}">
        <p14:creationId xmlns:p14="http://schemas.microsoft.com/office/powerpoint/2010/main" val="1115882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92331-D18B-4435-8569-D14182413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164" y="1763485"/>
            <a:ext cx="11528322" cy="1672047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compared several architectures before choosing our models.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reuses ImageNet features and trains only a small head, which is ideal for small medical datasets.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C56FF2B-9A11-D04B-8165-90D843920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183843"/>
              </p:ext>
            </p:extLst>
          </p:nvPr>
        </p:nvGraphicFramePr>
        <p:xfrm>
          <a:off x="448489" y="3272245"/>
          <a:ext cx="11411672" cy="2984868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2852918">
                  <a:extLst>
                    <a:ext uri="{9D8B030D-6E8A-4147-A177-3AD203B41FA5}">
                      <a16:colId xmlns:a16="http://schemas.microsoft.com/office/drawing/2014/main" val="2170686414"/>
                    </a:ext>
                  </a:extLst>
                </a:gridCol>
                <a:gridCol w="2852918">
                  <a:extLst>
                    <a:ext uri="{9D8B030D-6E8A-4147-A177-3AD203B41FA5}">
                      <a16:colId xmlns:a16="http://schemas.microsoft.com/office/drawing/2014/main" val="4061613076"/>
                    </a:ext>
                  </a:extLst>
                </a:gridCol>
                <a:gridCol w="2852918">
                  <a:extLst>
                    <a:ext uri="{9D8B030D-6E8A-4147-A177-3AD203B41FA5}">
                      <a16:colId xmlns:a16="http://schemas.microsoft.com/office/drawing/2014/main" val="2762325299"/>
                    </a:ext>
                  </a:extLst>
                </a:gridCol>
                <a:gridCol w="2852918">
                  <a:extLst>
                    <a:ext uri="{9D8B030D-6E8A-4147-A177-3AD203B41FA5}">
                      <a16:colId xmlns:a16="http://schemas.microsoft.com/office/drawing/2014/main" val="1679621392"/>
                    </a:ext>
                  </a:extLst>
                </a:gridCol>
              </a:tblGrid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Architecture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Test Accuracy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/>
                        <a:t>Role in Project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/>
                        <a:t>Ref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7088596"/>
                  </a:ext>
                </a:extLst>
              </a:tr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 err="1"/>
                        <a:t>EfficientNetB3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82.99%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/>
                        <a:t>Transfer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[1]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789626"/>
                  </a:ext>
                </a:extLst>
              </a:tr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DenseNet121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90.87%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Best performer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[2]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8967466"/>
                  </a:ext>
                </a:extLst>
              </a:tr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Custom CNN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90.25%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Trained from scratch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N/A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9550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208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EfficientNetB3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pic>
        <p:nvPicPr>
          <p:cNvPr id="5" name="Picture 4" descr="efficientnetb3_meth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00" y="1987806"/>
            <a:ext cx="11000000" cy="381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4903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2632D5-E82A-F90C-4E03-3E1250183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E1C24-477C-FCF9-3BAB-7C687CAB6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Architecture: EfficientNetB3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3B7B90-B74B-4F4C-BF35-FE746810EBCF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73ED3F6-50B1-D57E-6291-CDB2CF78F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658389"/>
            <a:ext cx="11430000" cy="4299065"/>
          </a:xfrm>
        </p:spPr>
        <p:txBody>
          <a:bodyPr wrap="square"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(256x256x3):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chest X-ray is resized to 256x256 and scaled for EfficientNet, so every image enters the network in the same format.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EfficientNetB3 base (frozen):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pre-trained on ImageNet and used as a fixed feature extractor, so it already knows generic visual patterns and is not retrained.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step by step: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reads simple edges first, then textures, and finally the larger shapes and opacities that signal TB in the lungs.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frozen: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freezing the base keeps training fast and prevents overfitting, which matters on a small medical dataset.</a:t>
            </a:r>
          </a:p>
        </p:txBody>
      </p:sp>
    </p:spTree>
    <p:extLst>
      <p:ext uri="{BB962C8B-B14F-4D97-AF65-F5344CB8AC3E}">
        <p14:creationId xmlns:p14="http://schemas.microsoft.com/office/powerpoint/2010/main" val="35792354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9C6F61-6B45-D2BF-4389-7E706F5B1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56C5A-539A-8EA2-BD66-616C26B0F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Architecture: EfficientNetB3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F083DC-1940-E7AA-CD03-9AC6964E3B87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EF23C17-3A3D-C930-7B51-AAFA1040E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82961"/>
            <a:ext cx="11430000" cy="5175039"/>
          </a:xfrm>
        </p:spPr>
        <p:txBody>
          <a:bodyPr wrap="square"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Average Pooling: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turns each feature map into a single number, giving one compact summary that describes the whole image.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focuses 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captures whether a useful feature is present anywhere, rather than the exact place where it appears.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randomly ignores some neurons during training, so the model does not rely on any single feature and generalises better.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the small classification head is trained on top, while the heavy EfficientNet base stays frozen underneath.</a:t>
            </a:r>
          </a:p>
        </p:txBody>
      </p:sp>
    </p:spTree>
    <p:extLst>
      <p:ext uri="{BB962C8B-B14F-4D97-AF65-F5344CB8AC3E}">
        <p14:creationId xmlns:p14="http://schemas.microsoft.com/office/powerpoint/2010/main" val="1218167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AC5279-2610-EEE8-6D43-0EB6DB455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042F2-1216-BE3D-5106-2E50BBC9E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Architecture: EfficientNetB3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A34A06-6862-EACB-7C41-758E1D5AA916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3959987-DE99-1B80-754C-CFC987D04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06392"/>
            <a:ext cx="11430000" cy="4299065"/>
          </a:xfrm>
        </p:spPr>
        <p:txBody>
          <a:bodyPr wrap="square"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final dense layer produces four scores, one for each class, using softmax.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class with the highest score is the classification, and that score is the confidence.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setup: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with the Adam optimiser and categorical cross-entropy until validation accuracy stops improving.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gives 82.99% test accuracy on X-rays the model has never seen before.</a:t>
            </a:r>
          </a:p>
        </p:txBody>
      </p:sp>
    </p:spTree>
    <p:extLst>
      <p:ext uri="{BB962C8B-B14F-4D97-AF65-F5344CB8AC3E}">
        <p14:creationId xmlns:p14="http://schemas.microsoft.com/office/powerpoint/2010/main" val="1143200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DenseNet121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pic>
        <p:nvPicPr>
          <p:cNvPr id="5" name="Picture 4" descr="densenet121_meth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00" y="1987806"/>
            <a:ext cx="11000000" cy="381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4903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F3F1F0-716E-C52C-A816-3ACFE244E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F7505-AE75-187D-9C62-41AE6AD9E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Architecture: DenseNet121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DBD27-699B-2CB5-8217-A3E81874E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576" y="1706550"/>
            <a:ext cx="11422848" cy="4299065"/>
          </a:xfrm>
        </p:spPr>
        <p:txBody>
          <a:bodyPr wrap="square"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DenseNet121 is our COVID model. Its dense connections let each layer reuse features from all earlier layers, which is great for subtle medical patterns.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224x224 colour X-ray is prepared with DenseNet's own preprocessing before it enters the network.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head: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features pass through pooling, a dense layer with dropout, and then the output layer that makes the decision.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classifies an X-ray as Normal, Tuberculosis, COVID-19 or Pneumonia.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with data augmentation on the unified dataset, to get the most from limited data.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BF0297-1C2A-21DA-CE4E-F80996D44341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</p:spTree>
    <p:extLst>
      <p:ext uri="{BB962C8B-B14F-4D97-AF65-F5344CB8AC3E}">
        <p14:creationId xmlns:p14="http://schemas.microsoft.com/office/powerpoint/2010/main" val="17914128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Custom CNN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pic>
        <p:nvPicPr>
          <p:cNvPr id="5" name="Picture 4" descr="custom_cnn_meth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00" y="1987806"/>
            <a:ext cx="11000000" cy="381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4903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Architecture: Custom CNN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92331-D18B-4435-8569-D14182413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839" y="1722112"/>
            <a:ext cx="11528322" cy="4664174"/>
          </a:xfrm>
        </p:spPr>
        <p:txBody>
          <a:bodyPr rtlCol="0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from scratch: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model uses no pre-trained weights, so it learns every pattern directly from the pneumonia X-rays.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150x150 colour image is rescaled so its pixel values sit in a small, consistent range.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convolution blocks: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filters grows block by block, letting the network capture more detail as it goes deeper.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block: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convolution finds patterns, normalisation stabilises training, and pooling shrinks the image to stay efficient.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feature maps are flattened into a vector and passed to a dense layer that makes the decision.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probability for each of the four classes, and the highest one is the classification.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reaches 90.25% accuracy on the unified test set.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</p:spTree>
    <p:extLst>
      <p:ext uri="{BB962C8B-B14F-4D97-AF65-F5344CB8AC3E}">
        <p14:creationId xmlns:p14="http://schemas.microsoft.com/office/powerpoint/2010/main" val="38062084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8FE309-C979-348C-9CB9-F5FFAF757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01913-3822-0E62-B826-4937CE4B3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Model: DenseNet121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4DEB5-7354-6ACD-FF36-8A9D6B84F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095" y="1658983"/>
            <a:ext cx="6936003" cy="4963160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set: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482 unseen chest X-rays spanning all four classes.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90.87%, the strongest of the three architectures.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accuracy: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89.14%, which weights every class equally regardless of size.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Pneumonia and Tuberculosis are detected most reliably.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B05993-F08A-F8FD-E5DA-2CB68E5A9D3A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5586D4-FEBF-0048-89B6-54E5EF0CB8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431596"/>
              </p:ext>
            </p:extLst>
          </p:nvPr>
        </p:nvGraphicFramePr>
        <p:xfrm>
          <a:off x="7681147" y="1807997"/>
          <a:ext cx="4192803" cy="2523109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2546588">
                  <a:extLst>
                    <a:ext uri="{9D8B030D-6E8A-4147-A177-3AD203B41FA5}">
                      <a16:colId xmlns:a16="http://schemas.microsoft.com/office/drawing/2014/main" val="3633954396"/>
                    </a:ext>
                  </a:extLst>
                </a:gridCol>
                <a:gridCol w="1646215">
                  <a:extLst>
                    <a:ext uri="{9D8B030D-6E8A-4147-A177-3AD203B41FA5}">
                      <a16:colId xmlns:a16="http://schemas.microsoft.com/office/drawing/2014/main" val="3342183239"/>
                    </a:ext>
                  </a:extLst>
                </a:gridCol>
              </a:tblGrid>
              <a:tr h="418451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8048965"/>
                  </a:ext>
                </a:extLst>
              </a:tr>
              <a:tr h="418451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Accuracy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90.87% (482 images)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0401985"/>
                  </a:ext>
                </a:extLst>
              </a:tr>
              <a:tr h="73228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Balanced Accuracy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89.14%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248694"/>
                  </a:ext>
                </a:extLst>
              </a:tr>
              <a:tr h="73228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Macro F1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9349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67041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24CBFC-38A3-0E54-24D7-DB5E49579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3FB49-74CF-952B-00CF-CE27D05F7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A8671-E521-49D1-D7B2-D59E7D4E9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599" y="1667410"/>
            <a:ext cx="11139293" cy="4848778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Upload: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uploads a chest X-ray.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Validate: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 checks the image really is a chest radiograph.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Preprocess: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and scale to match each model.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Classify: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three models output a class and its confidence.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Show result: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model's scores and whether they agree appear on the results page.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147C3A-A35D-D237-5C8E-32DD5DD13E8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</p:spTree>
    <p:extLst>
      <p:ext uri="{BB962C8B-B14F-4D97-AF65-F5344CB8AC3E}">
        <p14:creationId xmlns:p14="http://schemas.microsoft.com/office/powerpoint/2010/main" val="21193841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A96DF8-84D3-6DF3-0B08-8A0EFFC45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B00A-6CBF-3C91-6D58-CA205FBB4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 Pipeline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495782-9CD3-17C3-108C-1BA2DE7BC367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pic>
        <p:nvPicPr>
          <p:cNvPr id="5" name="Picture 4" descr="xray_gate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29" y="1470000"/>
            <a:ext cx="10442741" cy="486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4779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E39338-16C3-D310-BA58-34CA11635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DA03E-A511-A61F-80AF-31195D480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4265D3-C66D-616D-A6FE-D2AFC4561F86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F1F4C7-1C58-C4F6-AD57-5F7DC63E9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251" y="1689383"/>
            <a:ext cx="10515600" cy="4351338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3.8+.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and Keras to build, train, and evaluate the models.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EfficientNetB3, DenseNet121 (Keras Applications), and a custom CNN.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and Werkzeug serve all three models from one page.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&amp; Data: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OpenCV, NumPy, Pillow, Pandas, and Scikit-learn.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and Seaborn for the accuracy graph and confusion matrix.</a:t>
            </a:r>
          </a:p>
        </p:txBody>
      </p:sp>
    </p:spTree>
    <p:extLst>
      <p:ext uri="{BB962C8B-B14F-4D97-AF65-F5344CB8AC3E}">
        <p14:creationId xmlns:p14="http://schemas.microsoft.com/office/powerpoint/2010/main" val="38655480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7CE54E-778F-8886-A1A1-67E41E300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410DE-9372-80F5-231E-D8A8686CE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App Demonstration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6F6164-B4F4-09CD-2DCE-69CCED0B8336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pic>
        <p:nvPicPr>
          <p:cNvPr id="5" name="Picture 4" descr="3_tb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60934"/>
            <a:ext cx="5394960" cy="37933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6928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/>
              <a:t>Tuberculosis detection</a:t>
            </a:r>
          </a:p>
        </p:txBody>
      </p:sp>
      <p:pic>
        <p:nvPicPr>
          <p:cNvPr id="7" name="Picture 6" descr="2_covid_det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103" y="1737360"/>
            <a:ext cx="5337474" cy="37587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566928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/>
              <a:t>COVID-19 detection</a:t>
            </a:r>
          </a:p>
        </p:txBody>
      </p:sp>
    </p:spTree>
    <p:extLst>
      <p:ext uri="{BB962C8B-B14F-4D97-AF65-F5344CB8AC3E}">
        <p14:creationId xmlns:p14="http://schemas.microsoft.com/office/powerpoint/2010/main" val="1775348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270FF-EA2C-E09A-64BD-E78C08522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D66A3-A4DA-1B43-56DF-C2DFBC624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App: Classification Results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7FB79A-51BC-DBB3-639C-C141CEFC2EAB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pic>
        <p:nvPicPr>
          <p:cNvPr id="5" name="Picture 4" descr="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45945"/>
            <a:ext cx="3657600" cy="2571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526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/>
              <a:t>Home page</a:t>
            </a:r>
          </a:p>
        </p:txBody>
      </p:sp>
      <p:pic>
        <p:nvPicPr>
          <p:cNvPr id="7" name="Picture 6" descr="4_pneumonia_det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845945"/>
            <a:ext cx="3657600" cy="2571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51960" y="4526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/>
              <a:t>Pneumonia detection</a:t>
            </a:r>
          </a:p>
        </p:txBody>
      </p:sp>
      <p:pic>
        <p:nvPicPr>
          <p:cNvPr id="9" name="Picture 8" descr="5_xray_gu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845945"/>
            <a:ext cx="3657600" cy="2571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0" y="4526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/>
              <a:t>Non X-ray rejected</a:t>
            </a:r>
          </a:p>
        </p:txBody>
      </p:sp>
    </p:spTree>
    <p:extLst>
      <p:ext uri="{BB962C8B-B14F-4D97-AF65-F5344CB8AC3E}">
        <p14:creationId xmlns:p14="http://schemas.microsoft.com/office/powerpoint/2010/main" val="1495064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58C87C-42BC-58FB-612F-9CFC677B5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F5AD2-6274-EE8E-8D8D-2F290C028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</p:txBody>
      </p:sp>
      <p:graphicFrame>
        <p:nvGraphicFramePr>
          <p:cNvPr id="77" name="Table 5">
            <a:extLst>
              <a:ext uri="{FF2B5EF4-FFF2-40B4-BE49-F238E27FC236}">
                <a16:creationId xmlns:a16="http://schemas.microsoft.com/office/drawing/2014/main" id="{4C56FF2B-9A11-D04B-8165-90D843920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183843"/>
              </p:ext>
            </p:extLst>
          </p:nvPr>
        </p:nvGraphicFramePr>
        <p:xfrm>
          <a:off x="409725" y="1773365"/>
          <a:ext cx="11411672" cy="4477302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2852918">
                  <a:extLst>
                    <a:ext uri="{9D8B030D-6E8A-4147-A177-3AD203B41FA5}">
                      <a16:colId xmlns:a16="http://schemas.microsoft.com/office/drawing/2014/main" val="2170686414"/>
                    </a:ext>
                  </a:extLst>
                </a:gridCol>
                <a:gridCol w="2852918">
                  <a:extLst>
                    <a:ext uri="{9D8B030D-6E8A-4147-A177-3AD203B41FA5}">
                      <a16:colId xmlns:a16="http://schemas.microsoft.com/office/drawing/2014/main" val="4061613076"/>
                    </a:ext>
                  </a:extLst>
                </a:gridCol>
                <a:gridCol w="2852918">
                  <a:extLst>
                    <a:ext uri="{9D8B030D-6E8A-4147-A177-3AD203B41FA5}">
                      <a16:colId xmlns:a16="http://schemas.microsoft.com/office/drawing/2014/main" val="2762325299"/>
                    </a:ext>
                  </a:extLst>
                </a:gridCol>
                <a:gridCol w="2852918">
                  <a:extLst>
                    <a:ext uri="{9D8B030D-6E8A-4147-A177-3AD203B41FA5}">
                      <a16:colId xmlns:a16="http://schemas.microsoft.com/office/drawing/2014/main" val="1679621392"/>
                    </a:ext>
                  </a:extLst>
                </a:gridCol>
              </a:tblGrid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Metric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Formula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/>
                        <a:t>What it measures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/>
                        <a:t>Ideal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7088596"/>
                  </a:ext>
                </a:extLst>
              </a:tr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 err="1"/>
                        <a:t>Accuracy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(TP + TN) / 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/>
                        <a:t>overall share classified correctly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789626"/>
                  </a:ext>
                </a:extLst>
              </a:tr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Precision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TP / (TP + FP)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how much a positive flag can be trusted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1.00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8967466"/>
                  </a:ext>
                </a:extLst>
              </a:tr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Recall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TP / (TP + FN)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share of real cases the model catches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1.00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9550864"/>
                  </a:ext>
                </a:extLst>
              </a:tr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F1 Score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2PR / (P + 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balance between precision and 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1.00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Balanced Accuracy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mean of per-class 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fairness across unequal class sizes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AD28D08-24D5-C2A4-A1C3-ABA780A9349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</p:spTree>
    <p:extLst>
      <p:ext uri="{BB962C8B-B14F-4D97-AF65-F5344CB8AC3E}">
        <p14:creationId xmlns:p14="http://schemas.microsoft.com/office/powerpoint/2010/main" val="35396681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58C87C-42BC-58FB-612F-9CFC677B5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F5AD2-6274-EE8E-8D8D-2F290C028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 by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D28D08-24D5-C2A4-A1C3-ABA780A9349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10" name="HeadA"/>
          <p:cNvSpPr txBox="1"/>
          <p:nvPr/>
        </p:nvSpPr>
        <p:spPr>
          <a:xfrm>
            <a:off x="760000" y="1470000"/>
            <a:ext cx="10600000" cy="330000"/>
          </a:xfrm>
          <a:prstGeom prst="rect">
            <a:avLst/>
          </a:prstGeom>
        </p:spPr>
        <p:txBody>
          <a:bodyPr rtlCol="0">
            <a:normAutofit fontScale="92500" lnSpcReduction="10000"/>
          </a:bodyPr>
          <a:lstStyle/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Models: Test Accuracy (482 test images)</a:t>
            </a:r>
          </a:p>
        </p:txBody>
      </p:sp>
      <p:graphicFrame>
        <p:nvGraphicFramePr>
          <p:cNvPr id="11" name="TableA"/>
          <p:cNvGraphicFramePr/>
          <p:nvPr/>
        </p:nvGraphicFramePr>
        <p:xfrm>
          <a:off x="760000" y="1830000"/>
          <a:ext cx="10600000" cy="1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DenseNet121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four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90.87%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four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EfficientNetB3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four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82.99%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HeadB"/>
          <p:cNvSpPr txBox="1"/>
          <p:nvPr/>
        </p:nvSpPr>
        <p:spPr>
          <a:xfrm>
            <a:off x="760000" y="3796857"/>
            <a:ext cx="10600000" cy="330000"/>
          </a:xfrm>
          <a:prstGeom prst="rect">
            <a:avLst/>
          </a:prstGeom>
        </p:spPr>
        <p:txBody>
          <a:bodyPr rtlCol="0">
            <a:normAutofit fontScale="92500" lnSpcReduction="10000"/>
          </a:bodyPr>
          <a:lstStyle/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DenseNet121: Per-Class Metrics</a:t>
            </a:r>
          </a:p>
        </p:txBody>
      </p:sp>
      <p:graphicFrame>
        <p:nvGraphicFramePr>
          <p:cNvPr id="13" name="TableB"/>
          <p:cNvGraphicFramePr/>
          <p:nvPr/>
        </p:nvGraphicFramePr>
        <p:xfrm>
          <a:off x="760000" y="4260000"/>
          <a:ext cx="10600000" cy="23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Tuberculosis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COVID-19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Pneumonia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Caption"/>
          <p:cNvSpPr txBox="1"/>
          <p:nvPr/>
        </p:nvSpPr>
        <p:spPr>
          <a:xfrm>
            <a:off x="760000" y="5760000"/>
            <a:ext cx="10600000" cy="3600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algn="l"/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6681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92331-D18B-4435-8569-D14182413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164" y="1763485"/>
            <a:ext cx="11528322" cy="1672047"/>
          </a:xfrm>
        </p:spPr>
        <p:txBody>
          <a:bodyPr>
            <a:noAutofit/>
          </a:bodyPr>
          <a:lstStyle/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Like-for-like: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identical data, splits, augmentation, classification head and epoch budget; only the backbone differs.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C56FF2B-9A11-D04B-8165-90D843920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83584"/>
              </p:ext>
            </p:extLst>
          </p:nvPr>
        </p:nvGraphicFramePr>
        <p:xfrm>
          <a:off x="448489" y="2784200"/>
          <a:ext cx="11411672" cy="2984868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2852918">
                  <a:extLst>
                    <a:ext uri="{9D8B030D-6E8A-4147-A177-3AD203B41FA5}">
                      <a16:colId xmlns:a16="http://schemas.microsoft.com/office/drawing/2014/main" val="2170686414"/>
                    </a:ext>
                  </a:extLst>
                </a:gridCol>
                <a:gridCol w="2852918">
                  <a:extLst>
                    <a:ext uri="{9D8B030D-6E8A-4147-A177-3AD203B41FA5}">
                      <a16:colId xmlns:a16="http://schemas.microsoft.com/office/drawing/2014/main" val="4061613076"/>
                    </a:ext>
                  </a:extLst>
                </a:gridCol>
                <a:gridCol w="2852918">
                  <a:extLst>
                    <a:ext uri="{9D8B030D-6E8A-4147-A177-3AD203B41FA5}">
                      <a16:colId xmlns:a16="http://schemas.microsoft.com/office/drawing/2014/main" val="2762325299"/>
                    </a:ext>
                  </a:extLst>
                </a:gridCol>
                <a:gridCol w="2852918">
                  <a:extLst>
                    <a:ext uri="{9D8B030D-6E8A-4147-A177-3AD203B41FA5}">
                      <a16:colId xmlns:a16="http://schemas.microsoft.com/office/drawing/2014/main" val="1679621392"/>
                    </a:ext>
                  </a:extLst>
                </a:gridCol>
              </a:tblGrid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Model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Parameters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/>
                        <a:t>Test Accuracy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/>
                        <a:t>Macro F1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7088596"/>
                  </a:ext>
                </a:extLst>
              </a:tr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 err="1"/>
                        <a:t>DenseNet121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7,300,932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90.87%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0.864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789626"/>
                  </a:ext>
                </a:extLst>
              </a:tr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Custom CNN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1,247,364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90.25%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0.835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8967466"/>
                  </a:ext>
                </a:extLst>
              </a:tr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EfficientNetB3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11,178,035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82.99%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0.745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9550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2084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A96DF8-84D3-6DF3-0B08-8A0EFFC45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B00A-6CBF-3C91-6D58-CA205FBB4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 Model Accuracy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495782-9CD3-17C3-108C-1BA2DE7BC367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8F727B-9A4A-9CBD-3CFC-291C6D98C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713" y="1762464"/>
            <a:ext cx="6309360" cy="4623822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DenseNet121: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90.87% test accuracy on 482 unseen X-rays.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CNN: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90.25% test accuracy, with six times fewer parameters.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EfficientNetB3: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82.99% test accuracy.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Takeaway: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two strongest models are close, and both generalise well to unseen X-rays.</a:t>
            </a:r>
          </a:p>
        </p:txBody>
      </p:sp>
      <p:pic>
        <p:nvPicPr>
          <p:cNvPr id="8" name="Picture 7" descr="model_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073" y="1932283"/>
            <a:ext cx="5257798" cy="297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4779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3AB516-1DFC-E017-8C3B-FD856BDC6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1BBF2-067D-1416-6BD0-658D38AA4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Matrix: DenseNet121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9F71C0-02CE-2731-40AE-F186A4D9246F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610DB7D-D26F-2E40-758A-072E66F27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126" y="1695812"/>
            <a:ext cx="5257800" cy="4351338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shows: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DenseNet121 model on all 482 test X-rays across the four classes.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diagonal: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classifications fall on the diagonal, meaning they are correct.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detected: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Pneumonia (175 of 179) and Tuberculosis (92 of 104).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confusion: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Normal X-rays are read as Pneumonia, the hardest pair to separate.</a:t>
            </a:r>
          </a:p>
        </p:txBody>
      </p:sp>
      <p:pic>
        <p:nvPicPr>
          <p:cNvPr id="8" name="Picture 7" descr="covid_confusion_matrix_2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571" y="1800517"/>
            <a:ext cx="4815137" cy="436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9839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58C87C-42BC-58FB-612F-9CFC677B5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F5AD2-6274-EE8E-8D8D-2F290C028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D8426-0369-1EDE-3F23-308D9DB83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599" y="1750000"/>
            <a:ext cx="5850000" cy="4630000"/>
          </a:xfrm>
        </p:spPr>
        <p:txBody>
          <a:bodyPr>
            <a:normAutofit lnSpcReduction="10000"/>
          </a:bodyPr>
          <a:lstStyle/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DenseNet121: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90.87% test accuracy, the best of the three.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CNN: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90.25% test accuracy, using six times fewer parameters.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EfficientNetB3: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82.99% test accuracy, the weakest despite being the largest.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enough data the from-scratch CNN nearly matches the pre-trained DenseNet121.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the chart: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taller bars mean higher accuracy on unseen X-rays.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D28D08-24D5-C2A4-A1C3-ABA780A9349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650000" y="1750000"/>
          <a:ext cx="5150000" cy="40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396681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&amp; Challenges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66AC33-394E-7B13-CE35-B9A3E06738E9}"/>
              </a:ext>
            </a:extLst>
          </p:cNvPr>
          <p:cNvSpPr txBox="1"/>
          <p:nvPr/>
        </p:nvSpPr>
        <p:spPr>
          <a:xfrm>
            <a:off x="340370" y="1585969"/>
            <a:ext cx="11511260" cy="2935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Small, imbalanced datasets.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X-ray data is limited. Our approach: data augmentation (rotation, zoom, flips) to add variety.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Risk of overfitting.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datasets can make a model memorise. Our approach: dropout, early stopping, and lowering the learning rate.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Model choice.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models can underfit. Our approach: transfer learning (EfficientNetB3, DenseNet121) for strong features.</a:t>
            </a:r>
          </a:p>
        </p:txBody>
      </p:sp>
    </p:spTree>
    <p:extLst>
      <p:ext uri="{BB962C8B-B14F-4D97-AF65-F5344CB8AC3E}">
        <p14:creationId xmlns:p14="http://schemas.microsoft.com/office/powerpoint/2010/main" val="26854903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58C87C-42BC-58FB-612F-9CFC677B5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F5AD2-6274-EE8E-8D8D-2F290C028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D8426-0369-1EDE-3F23-308D9DB83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598" y="1773365"/>
            <a:ext cx="11139293" cy="4848778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COVID-19 class: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130 COVID images exist, so that class stays the weakest by a wide margin.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COVID-19 has far fewer images than the other classes, which lowers its precision.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external validation: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are tested on held-out data, not on other hospitals' scans.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quality: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unusual angles, artifacts or low-quality scans can lower accuracy.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 diagnosis: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a screening aid and cannot replace a radiologist.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D28D08-24D5-C2A4-A1C3-ABA780A9349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</p:spTree>
    <p:extLst>
      <p:ext uri="{BB962C8B-B14F-4D97-AF65-F5344CB8AC3E}">
        <p14:creationId xmlns:p14="http://schemas.microsoft.com/office/powerpoint/2010/main" val="35396681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70115D-8CFC-0765-D11F-ED5196346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E0CD4-90A3-7F64-0EFE-3B3D25C7D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0ADDC2-AC77-71CA-C966-7E6A5671DC14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DA4DF2-0F28-9FD4-85B0-070E28A29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811" y="1689383"/>
            <a:ext cx="10629122" cy="4351338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system: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models detect four classes from a single chest X-ray.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DenseNet121 90.87%, Custom CNN 90.25% and EfficientNetB3 82.99% test accuracy.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 comparison: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all three on one shared dataset made the architecture comparison meaningful.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lesson: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training data improved every model far more than longer training did.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three run in one Flask web app with a built-in chest X-ray check.</a:t>
            </a:r>
          </a:p>
        </p:txBody>
      </p:sp>
    </p:spTree>
    <p:extLst>
      <p:ext uri="{BB962C8B-B14F-4D97-AF65-F5344CB8AC3E}">
        <p14:creationId xmlns:p14="http://schemas.microsoft.com/office/powerpoint/2010/main" val="41953679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57516BD4-D1C5-A357-09A1-FE8B71D2C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62" y="1689383"/>
            <a:ext cx="10652185" cy="4351338"/>
          </a:xfrm>
        </p:spPr>
        <p:txBody>
          <a:bodyPr numCol="1" spcCol="274320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[1] 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Tan and Q. V. Le, "EfficientNet: Rethinking Model Scaling for CNNs," in Proc. ICML, 2019.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G. Huang, Z. Liu, et al., "Densely Connected Convolutional Networks," in Proc. CVPR, 2017.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T. Rahman et al., "Reliable Tuberculosis Detection Using Chest X-ray," IEEE Access, vol. 8, 2020.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P. Mooney, "Chest X-Ray Images (Pneumonia)," Kaggle Dataset, 2018.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K. He, X. Zhang, et al., "Deep Residual Learning for Image Recognition," in Proc. CVPR, 2016.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C. Szegedy et al., "Rethinking the Inception Architecture for Computer Vision," in Proc. CVPR, 2016.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K. Simonyan and A. Zisserman, "Very Deep Convolutional Networks (VGG)," in Proc. ICLR, 2015.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D. P. Kingma and J. Ba, "Adam: A Method for Stochastic Optimization," in Proc. ICLR, 2015.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N. Srivastava et al., "Dropout: A Simple Way to Prevent Overfitting," JMLR, vol. 15, 2014.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S. Ioffe and C. Szegedy, "Batch Normalization," in Proc. ICML, 2015.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R. R. Selvaraju et al., "Grad-CAM: Visual Explanations from Deep Networks," in Proc. ICCV, 2017.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J. Deng et al., "ImageNet: A Large-Scale Hierarchical Image Database," in Proc. CVPR, 2009.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TensorFlow and Keras Documentation, tensorflow.org; Flask Documentation, 2024.</a:t>
            </a:r>
          </a:p>
        </p:txBody>
      </p:sp>
    </p:spTree>
    <p:extLst>
      <p:ext uri="{BB962C8B-B14F-4D97-AF65-F5344CB8AC3E}">
        <p14:creationId xmlns:p14="http://schemas.microsoft.com/office/powerpoint/2010/main" val="3334425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10915</TotalTime>
  <Words>3919</Words>
  <Application>Microsoft Office PowerPoint</Application>
  <PresentationFormat>Widescreen</PresentationFormat>
  <Paragraphs>404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Calibri Light</vt:lpstr>
      <vt:lpstr>Times New Roman</vt:lpstr>
      <vt:lpstr>Office Theme</vt:lpstr>
      <vt:lpstr>AI Agent For Lung Diseases Detection</vt:lpstr>
      <vt:lpstr>Overview of Presentation</vt:lpstr>
      <vt:lpstr>Introduction</vt:lpstr>
      <vt:lpstr>Aim &amp; Objectives</vt:lpstr>
      <vt:lpstr>Problem Statement</vt:lpstr>
      <vt:lpstr>Why Chest X-rays as Input</vt:lpstr>
      <vt:lpstr>Why These Three Diseases</vt:lpstr>
      <vt:lpstr>Literature Review</vt:lpstr>
      <vt:lpstr>Literature Review</vt:lpstr>
      <vt:lpstr>Research Gap</vt:lpstr>
      <vt:lpstr>Datasets</vt:lpstr>
      <vt:lpstr>Dataset Properties</vt:lpstr>
      <vt:lpstr>Sample Chest X-rays</vt:lpstr>
      <vt:lpstr>Preprocessing Techniques</vt:lpstr>
      <vt:lpstr>Preprocessing Pipeline</vt:lpstr>
      <vt:lpstr>Overall System Architecture</vt:lpstr>
      <vt:lpstr>Methodology</vt:lpstr>
      <vt:lpstr>Why These Three Models</vt:lpstr>
      <vt:lpstr>Methodology: Model Architectures</vt:lpstr>
      <vt:lpstr>Data Splitting</vt:lpstr>
      <vt:lpstr>Model Development</vt:lpstr>
      <vt:lpstr>Methodology: EfficientNetB3</vt:lpstr>
      <vt:lpstr>Model Architecture: EfficientNetB3</vt:lpstr>
      <vt:lpstr>Model Architecture: EfficientNetB3</vt:lpstr>
      <vt:lpstr>Model Architecture: EfficientNetB3</vt:lpstr>
      <vt:lpstr>Methodology: DenseNet121</vt:lpstr>
      <vt:lpstr>Model Architecture: DenseNet121</vt:lpstr>
      <vt:lpstr>Methodology: Custom CNN</vt:lpstr>
      <vt:lpstr>Model Architecture: Custom CNN</vt:lpstr>
      <vt:lpstr>Best Model: DenseNet121</vt:lpstr>
      <vt:lpstr>Application Workflow</vt:lpstr>
      <vt:lpstr>Input Validation Pipeline</vt:lpstr>
      <vt:lpstr>Tools and Technologies Used</vt:lpstr>
      <vt:lpstr>Live App Demonstration</vt:lpstr>
      <vt:lpstr>Web App: Classification Results</vt:lpstr>
      <vt:lpstr>Evaluation Metrics</vt:lpstr>
      <vt:lpstr>Evaluation Metrics by Model</vt:lpstr>
      <vt:lpstr>Model Comparison</vt:lpstr>
      <vt:lpstr>Results: Model Accuracy</vt:lpstr>
      <vt:lpstr>Confusion Matrix: DenseNet121</vt:lpstr>
      <vt:lpstr>Results Evaluation</vt:lpstr>
      <vt:lpstr>Model Performance &amp; Challenges</vt:lpstr>
      <vt:lpstr>Limitations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Sadia Muqaddas</dc:creator>
  <cp:lastModifiedBy>Moorche</cp:lastModifiedBy>
  <cp:revision>453</cp:revision>
  <cp:lastPrinted>2019-04-16T10:28:18Z</cp:lastPrinted>
  <dcterms:created xsi:type="dcterms:W3CDTF">2018-02-23T07:13:22Z</dcterms:created>
  <dcterms:modified xsi:type="dcterms:W3CDTF">2026-09-03T06:49:39Z</dcterms:modified>
</cp:coreProperties>
</file>