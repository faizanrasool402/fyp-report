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5" r:id="rId5"/>
    <p:sldId id="330" r:id="rId6"/>
    <p:sldId id="348" r:id="rId7"/>
    <p:sldId id="343" r:id="rId8"/>
    <p:sldId id="335" r:id="rId9"/>
    <p:sldId id="336" r:id="rId10"/>
    <p:sldId id="341" r:id="rId11"/>
    <p:sldId id="293" r:id="rId12"/>
    <p:sldId id="344" r:id="rId13"/>
    <p:sldId id="294" r:id="rId14"/>
    <p:sldId id="285" r:id="rId15"/>
    <p:sldId id="350" r:id="rId16"/>
    <p:sldId id="340" r:id="rId17"/>
    <p:sldId id="304" r:id="rId18"/>
    <p:sldId id="345" r:id="rId19"/>
    <p:sldId id="346" r:id="rId20"/>
    <p:sldId id="286" r:id="rId21"/>
    <p:sldId id="298" r:id="rId22"/>
    <p:sldId id="332" r:id="rId23"/>
    <p:sldId id="302" r:id="rId24"/>
    <p:sldId id="324" r:id="rId25"/>
    <p:sldId id="325" r:id="rId26"/>
    <p:sldId id="333" r:id="rId27"/>
    <p:sldId id="307" r:id="rId28"/>
    <p:sldId id="334" r:id="rId29"/>
    <p:sldId id="331" r:id="rId30"/>
    <p:sldId id="300" r:id="rId31"/>
    <p:sldId id="312" r:id="rId32"/>
    <p:sldId id="349" r:id="rId33"/>
    <p:sldId id="297" r:id="rId34"/>
    <p:sldId id="295" r:id="rId35"/>
    <p:sldId id="296" r:id="rId36"/>
    <p:sldId id="337" r:id="rId37"/>
    <p:sldId id="342" r:id="rId38"/>
    <p:sldId id="347" r:id="rId39"/>
    <p:sldId id="327" r:id="rId40"/>
    <p:sldId id="328" r:id="rId41"/>
    <p:sldId id="338" r:id="rId42"/>
    <p:sldId id="288" r:id="rId43"/>
    <p:sldId id="339" r:id="rId44"/>
    <p:sldId id="329" r:id="rId45"/>
    <p:sldId id="26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3" d="100"/>
          <a:sy n="73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222222"/>
                </a:solidFill>
                <a:latin typeface="Times New Roman"/>
              </a:rPr>
              <a:t>Model Test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F4E79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DenseNet121</c:v>
                </c:pt>
                <c:pt idx="1">
                  <c:v>Custom CNN</c:v>
                </c:pt>
                <c:pt idx="2">
                  <c:v>EfficientNetB3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90.87</c:v>
                </c:pt>
                <c:pt idx="1">
                  <c:v>90.25</c:v>
                </c:pt>
                <c:pt idx="2">
                  <c:v>82.99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64E-4676-924C-C149BA239E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703E-A315-4CEA-BA5F-5CDF0C6DA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5615D-62A1-4ABD-B2EA-0EB457095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C44C7-C6ED-426B-9232-4C2DE153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6DAA-6AE9-4566-A8D3-856A3668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7AA1-8F40-4EA6-9ED5-CC82DBFB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7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A025-291A-4073-B6C9-F2119EB9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C6C6E-B7A0-42B2-8903-6CC645C5F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5EF06-9020-4C96-AB1B-B5E8028F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3354A-5DB8-46E9-8A52-5F545A84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7B2F2-892A-4D94-A89E-B63A0FC6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0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72CD-9C07-4A47-A23F-D9E31163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28B3-A32B-4D56-A87A-5BDEB311E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65576-B732-427B-8C0D-B37B5AEF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4B76A-23FD-458B-8C9E-54CECD57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B684-2F8B-48F4-97D6-81781DB9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9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BF73-816A-4562-8FE9-241E0E33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78D0-093F-4930-95D7-015BFF647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6AF9B-604F-4CF3-A002-53995F85F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CAD99-830C-487B-9655-13AAE8C0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5E5DF-746A-4B19-8241-A2D1C7A3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E0B50-AF2C-44F4-B372-E08913EC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8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FA8B8-67AA-40B2-B474-D5182BB55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A4252-B705-4C74-8F4B-7AEF6166B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5BFDE-559E-469E-BE8C-F54A433C3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CAA2C-B5BD-44D3-97EC-502F101BB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BF7F2-EC61-491A-A57E-EFDB64D22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2AB44-A279-45B5-87EF-1A14D328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9BF83-8026-4AA8-8685-AC8D817F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486D9-A235-4F04-97EA-651D6067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0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87D1-68CA-4687-BBA7-DDE53C40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0F71D-4783-4146-8AD4-EDF064F7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8C860-0C2F-4E44-A4BB-8D365F683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D795F-4812-4FAB-AE00-BEC2612C8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9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5592D-DED3-4C10-89AF-37E65059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B6B89-1668-485A-9331-5D113745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10415-4487-419C-B629-E746539A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6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9281-24F2-476B-A949-74E26852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724A7-2C8B-4E0A-AB98-572A711F6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26616-035E-4385-B8C9-7CEF400AE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068BC-E50E-4D81-AC2F-517E8EFA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8B62-BAF3-4983-87FB-50DFC580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F61FE-61E3-42D0-B296-C39C55C5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7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81A-7F85-4D05-BAF5-FB3ED181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9517A-FFAB-4B4E-A139-A7230FFBC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3A7E2-4E53-4B0F-8AFD-3D2A91CF9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31BA6-387D-4A09-B15C-ECD61B27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8AFA1-9190-4BC1-B657-221F320E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7A206-21D8-49DE-8F54-4DFDDFB1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3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BF8A-D1F3-4CC1-9A0D-9ABEC87B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8FD13-11B8-4760-AEF7-020B77526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C2201-98E8-475E-9FEC-59AE346D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2DBB0-AAD2-426F-AA26-47F3A5D5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40724-CF0F-4E19-90D9-F0F95577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7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D33656-5724-44DE-87E2-DED37BE6B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DDB63-B4D1-4CC8-80EC-CB74A1FC7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B37D-8C6D-4EE7-AF2F-BA4F63B2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14BB0-E138-42A9-9FD3-8215D8A1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A2175-F2B4-4D40-9585-2589FBFA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5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9AF0E-C667-4C4A-8662-B292C949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5BA33-13B7-454F-ACD5-03A5DB38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EE86F-DEC7-4822-AFB6-3C164BECA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0E2C1-9498-43AC-AB97-32D0D72F6FF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13579-881B-4553-9710-635969B4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1666D-8094-4ED1-AF83-F01B841D7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44031-106A-409D-A8E5-203E4054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4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BDAC-81CF-42C2-80E0-9C14E07D3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8" y="250162"/>
            <a:ext cx="9144000" cy="100715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5A117-BC92-49B6-9DBB-487427172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828" y="2781459"/>
            <a:ext cx="9144000" cy="2205518"/>
          </a:xfrm>
        </p:spPr>
        <p:txBody>
          <a:bodyPr>
            <a:normAutofit fontScale="70000" lnSpcReduction="20000"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Ehtisham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Hanif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ECI-IT-21-064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Humair Hayat                                      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ECI-IT-21-058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Faizan Rasool                                       ECI-IT-21-057</a:t>
            </a:r>
          </a:p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Aisha Shafique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CEE16DD-A9A7-4C6D-A4AD-BDF077B8F79D}"/>
              </a:ext>
            </a:extLst>
          </p:cNvPr>
          <p:cNvSpPr txBox="1">
            <a:spLocks/>
          </p:cNvSpPr>
          <p:nvPr/>
        </p:nvSpPr>
        <p:spPr>
          <a:xfrm>
            <a:off x="1524000" y="5222650"/>
            <a:ext cx="9506858" cy="1256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Computing</a:t>
            </a:r>
            <a:endParaRPr lang="en-GB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Engineering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Sciences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Technology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Hamdard University Islamabad Campus</a:t>
            </a:r>
          </a:p>
          <a:p>
            <a:endParaRPr lang="en-US" sz="3000" b="1" dirty="0"/>
          </a:p>
          <a:p>
            <a:endParaRPr lang="en-US" sz="3000" b="1" dirty="0"/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1" name="Picture 1">
            <a:extLst>
              <a:ext uri="{FF2B5EF4-FFF2-40B4-BE49-F238E27FC236}">
                <a16:creationId xmlns:a16="http://schemas.microsoft.com/office/drawing/2014/main" id="{0A1F67D3-5E34-4C9E-921B-27B894075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478" y="1257316"/>
            <a:ext cx="1662701" cy="1524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978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098"/>
            <a:ext cx="10515600" cy="4713571"/>
          </a:xfrm>
        </p:spPr>
        <p:txBody>
          <a:bodyPr>
            <a:no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Evaluation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18690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0277-0C7D-4670-B1CF-B3426554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188" y="1743596"/>
            <a:ext cx="10714703" cy="4642690"/>
          </a:xfrm>
        </p:spPr>
        <p:txBody>
          <a:bodyPr wrap="square">
            <a:norm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Tuberculosis, COVID-19, and Pneumonia are serious lung diseases that show up on chest X-rays.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chest X-ray is the cheapest and most widely available way to screen for them.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X-rays by hand is slow, expensive, and easy to get wrong when the workload is high.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 models can read an X-ray and flag the likely disease automatically.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checks for all three diseases from one simple web app.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doctors a fast, reliable second opinion, especially where specialists are few.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296831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0277-0C7D-4670-B1CF-B3426554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" y="1743596"/>
            <a:ext cx="11262360" cy="4642690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AI system that detects Tuberculosis, COVID-19, and Pneumonia from chest X-rays.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three deep-learning models on one unified four-class dataset and compare them fairly.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transfer learning and augmentation to handle small medical datasets.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all models in one easy web app and test them on unseen X-rays.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174383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416F2-5994-F6A7-1C7D-257C385BC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BA2E-FD48-2023-6B31-02902A2C1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209C2-A03E-E105-E3DA-D0058F632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035" y="1704408"/>
            <a:ext cx="11203655" cy="2763090"/>
          </a:xfrm>
        </p:spPr>
        <p:txBody>
          <a:bodyPr wrap="square">
            <a:normAutofit fontScale="92500" lnSpcReduction="10000"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the first tool for spotting lung disease, but reading them needs trained radiologists, who are scarce.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reading is slow, costly and prone to error, which delays treatment and puts patients at risk.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fast, reliable, low-cost way to screen X-rays for Tuberculosis, COVID-19 and Pneumonia.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web application that classifies all four classes using three independent models, so one upload gives three cross-checked opinions.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BB5EB7-2543-359E-0A9A-B5CCB47842B0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14478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Chest X-rays as Input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2B6A-E3BD-C5AF-AFD3-A4491FEFF75A}"/>
              </a:ext>
            </a:extLst>
          </p:cNvPr>
          <p:cNvSpPr txBox="1"/>
          <p:nvPr/>
        </p:nvSpPr>
        <p:spPr>
          <a:xfrm>
            <a:off x="435497" y="1794813"/>
            <a:ext cx="11321006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available: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lmost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clinic has an X-ray machine, while CT scanners are costly and concentrated in cities.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and fast: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X-ray takes minutes and costs a fraction of a CT scan, so it suits large-scale screening.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lower dose: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chest X-ray delivers about 0.1 mSv against roughly 7 mSv for a chest CT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89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These Three Diseases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2B6A-E3BD-C5AF-AFD3-A4491FEFF75A}"/>
              </a:ext>
            </a:extLst>
          </p:cNvPr>
          <p:cNvSpPr txBox="1"/>
          <p:nvPr/>
        </p:nvSpPr>
        <p:spPr>
          <a:xfrm>
            <a:off x="435497" y="1807876"/>
            <a:ext cx="11321006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Clinically significant: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uberculosis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COVID-19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among the most common and serious lung infections worldwide.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on X-ray: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change the appearance of the lungs on a chest radiograph, so one imaging type covers them all.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exists: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has an established labelled dataset, which makes the study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8368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58503"/>
              </p:ext>
            </p:extLst>
          </p:nvPr>
        </p:nvGraphicFramePr>
        <p:xfrm>
          <a:off x="195942" y="1327063"/>
          <a:ext cx="11795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>
                  <a:extLst>
                    <a:ext uri="{9D8B030D-6E8A-4147-A177-3AD203B41FA5}">
                      <a16:colId xmlns:a16="http://schemas.microsoft.com/office/drawing/2014/main" val="724794875"/>
                    </a:ext>
                  </a:extLst>
                </a:gridCol>
                <a:gridCol w="3126338">
                  <a:extLst>
                    <a:ext uri="{9D8B030D-6E8A-4147-A177-3AD203B41FA5}">
                      <a16:colId xmlns:a16="http://schemas.microsoft.com/office/drawing/2014/main" val="3190490548"/>
                    </a:ext>
                  </a:extLst>
                </a:gridCol>
                <a:gridCol w="2771542">
                  <a:extLst>
                    <a:ext uri="{9D8B030D-6E8A-4147-A177-3AD203B41FA5}">
                      <a16:colId xmlns:a16="http://schemas.microsoft.com/office/drawing/2014/main" val="1335411580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490814329"/>
                    </a:ext>
                  </a:extLst>
                </a:gridCol>
              </a:tblGrid>
              <a:tr h="26731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Study/Reference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Contributions/Methodology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our Study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15068"/>
                  </a:ext>
                </a:extLst>
              </a:tr>
              <a:tr h="11583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Colombi, D., Panzeri, M. M., Vancheri, S. G.,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Richeldi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L., &amp;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Sverzellati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N. (2025).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Computer-aided evaluation of interstitial lung diseases: From HRCT diagnosis to prognostic stratification.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Diagnostics, 15(6), 943.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computer-aided diagnosis (CAD) methods using AI and radiomics on HRCT scans for ILD detection and prognosis stratification. Highlighted use of deep learning and radiomics for automated interpretation.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that AI and radiomics can accurately support diagnosis and predict prognosis, reducing reliance on manual assessments.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that CNN-based and AI-driven tools can be extended beyond cancer to ILD detection, reinforcing the value of AI in medical imaging for early and accurate diagnosis.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51320"/>
                  </a:ext>
                </a:extLst>
              </a:tr>
              <a:tr h="99639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Müller, H.,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Atnafu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 Y., Engelhardt, S., &amp;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Depeursinge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 (2025).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Computer-aided diagnosis (CAD) of lung cancer: The road ahead.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Informatics, 12(1), 18.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Surveyed CAD systems for lung cancer, categorizing existing AI approaches, especially deep CNNs, hybrid ML, and radiomics-based methods. Discussed architectural design, data preprocessing, and integration challenges.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 that deep CNNs and hybrid approaches outperform traditional techniques. Noted challenges of data imbalance, explainability, and clinical adoption.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our study by demonstrating CNN superiority in lung cancer detection tasks and aligning with our aim to build robust CNN-based solutions for multi-disease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144884"/>
                  </a:ext>
                </a:extLst>
              </a:tr>
              <a:tr h="13365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Zahid, M., Khan, M. A., Rehman, S. U., Saba, T., Alghamdi, M., &amp; Rehman, A. (2024).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computer-aided diagnostic system for early detection of lung cancer using hybrid deep features.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Multimedia Tools and Applications, 83, 12345–12367.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CAD system integrating hybrid deep features (CNN + handcrafted features) for lung cancer detection from CT scans. Used feature fusion and classification models to enhance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diagnostic accuracy and robustness by combining CNN features with traditional texture-based features, improving early detection of lung cancer.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the potential of hybrid feature-based CNN approaches, guiding our system to explore ensemble and hybrid methods for improved lung disease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512712"/>
                  </a:ext>
                </a:extLst>
              </a:tr>
              <a:tr h="115835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Ignatius, J. L. P., Selvakumar, S., Gabriel, K., Kailash, A. B.,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Keertivaas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S., &amp; Prajan, S. A. J. A. R. (2023).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 Matched Chest X-Rays Based Tuberculosis Detection Using CNN.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Computer Systems Science &amp; Engineering, 44(1), 81–97.</a:t>
                      </a:r>
                      <a:endParaRPr lang="da-DK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CNN-based TB detection system using chest X-rays with histogram matching as a preprocessing technique. Evaluated 10 pre-trained CNNs (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VGG,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Inception).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 and DenseNet169 achieved the best results, with histogram matching improving accuracy to 99.58%, sensitivity to 99.82%, and specificity to 99.67%.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how preprocessing (histogram matching) enhances CNN performance, supporting reliable detection in clinical imaging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750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362667"/>
              </p:ext>
            </p:extLst>
          </p:nvPr>
        </p:nvGraphicFramePr>
        <p:xfrm>
          <a:off x="402588" y="1480628"/>
          <a:ext cx="1138682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706">
                  <a:extLst>
                    <a:ext uri="{9D8B030D-6E8A-4147-A177-3AD203B41FA5}">
                      <a16:colId xmlns:a16="http://schemas.microsoft.com/office/drawing/2014/main" val="724794875"/>
                    </a:ext>
                  </a:extLst>
                </a:gridCol>
                <a:gridCol w="3017954">
                  <a:extLst>
                    <a:ext uri="{9D8B030D-6E8A-4147-A177-3AD203B41FA5}">
                      <a16:colId xmlns:a16="http://schemas.microsoft.com/office/drawing/2014/main" val="3190490548"/>
                    </a:ext>
                  </a:extLst>
                </a:gridCol>
                <a:gridCol w="2675458">
                  <a:extLst>
                    <a:ext uri="{9D8B030D-6E8A-4147-A177-3AD203B41FA5}">
                      <a16:colId xmlns:a16="http://schemas.microsoft.com/office/drawing/2014/main" val="1335411580"/>
                    </a:ext>
                  </a:extLst>
                </a:gridCol>
                <a:gridCol w="2846706">
                  <a:extLst>
                    <a:ext uri="{9D8B030D-6E8A-4147-A177-3AD203B41FA5}">
                      <a16:colId xmlns:a16="http://schemas.microsoft.com/office/drawing/2014/main" val="249081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Study/Reference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Contributions/Methodology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our Study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15068"/>
                  </a:ext>
                </a:extLst>
              </a:tr>
              <a:tr h="11439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Varshni, D., Nijhawan, R., Thakral, K., Mittal, A., &amp; Agarwal, L. (2019). </a:t>
                      </a:r>
                      <a:r>
                        <a:rPr lang="en-US" sz="12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Pneumonia Detection Using CNN based Feature Extraction.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Proc. Int. Conf. on Electrical, Computer and Communication Technologies (ICECCT), pp. 1–7.</a:t>
                      </a:r>
                      <a:endParaRPr lang="da-DK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pre-trained CNNs (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VGG,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Xception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for feature extraction on the ChestX-ray14 dataset, followed by classifiers (SVM, RF, KNN, NB). Hyperparameter tuning applied for optimization.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DenseNet-169 with SVM achieved the best performance (AUC = 0.8002), outperforming earlier models like logistic regression.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the effectiveness of hybrid deep learning + classifier models, aligning with our aim to design robust AI-based medical diagnostic systems..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702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8426-0369-1EDE-3F23-308D9DB83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290" y="1655074"/>
            <a:ext cx="11139293" cy="457590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Single-disease focus: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detect only one disease; our system covers TB, COVID-19, and Pneumonia in one tool.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Costly imaging: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works depend on CT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we use widely available chest X-rays.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Research-only models: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methods stay as notebooks or experiments; we deploy a working web application for real users.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input safety: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assume valid inputs; our input validator rejects non X-ray images before classification.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tools: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work is one model per disease; we unify three models behind one interface with confidence scores.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DC4598-92AE-653D-569E-E94069913E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631" y="1420824"/>
            <a:ext cx="11082738" cy="496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TB Chest Radiography Database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Kaggle, Tawsifurrahman)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Normal and Tuberculosis chest X-rays.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Covid19-dataset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Tawsifurrahman)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COVID-19, Normal and Viral Pneumonia images.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 Images: Pneumonia (Kaggle, Paul Mooney) provides Normal and Pneumonia images.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3,227 images after duplicate removal, mapped into one label space of Normal, Tuberculosis, COVID-19 and Pneumonia.</a:t>
            </a:r>
          </a:p>
          <a:p>
            <a:pPr marL="0" indent="0" algn="just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merge: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model trains on the same images and labels, so the three architectures can be compared fairly.</a:t>
            </a:r>
          </a:p>
        </p:txBody>
      </p:sp>
    </p:spTree>
    <p:extLst>
      <p:ext uri="{BB962C8B-B14F-4D97-AF65-F5344CB8AC3E}">
        <p14:creationId xmlns:p14="http://schemas.microsoft.com/office/powerpoint/2010/main" val="3556183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64" y="1763485"/>
            <a:ext cx="11528322" cy="167204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dataset: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source datasets are merged into one 4-class label space of 3,227 images.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97002"/>
              </p:ext>
            </p:extLst>
          </p:nvPr>
        </p:nvGraphicFramePr>
        <p:xfrm>
          <a:off x="561704" y="2411091"/>
          <a:ext cx="10998925" cy="3731085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824189">
                  <a:extLst>
                    <a:ext uri="{9D8B030D-6E8A-4147-A177-3AD203B41FA5}">
                      <a16:colId xmlns:a16="http://schemas.microsoft.com/office/drawing/2014/main" val="2170686414"/>
                    </a:ext>
                  </a:extLst>
                </a:gridCol>
                <a:gridCol w="2824189">
                  <a:extLst>
                    <a:ext uri="{9D8B030D-6E8A-4147-A177-3AD203B41FA5}">
                      <a16:colId xmlns:a16="http://schemas.microsoft.com/office/drawing/2014/main" val="4061613076"/>
                    </a:ext>
                  </a:extLst>
                </a:gridCol>
                <a:gridCol w="2824189">
                  <a:extLst>
                    <a:ext uri="{9D8B030D-6E8A-4147-A177-3AD203B41FA5}">
                      <a16:colId xmlns:a16="http://schemas.microsoft.com/office/drawing/2014/main" val="2762325299"/>
                    </a:ext>
                  </a:extLst>
                </a:gridCol>
                <a:gridCol w="2526358">
                  <a:extLst>
                    <a:ext uri="{9D8B030D-6E8A-4147-A177-3AD203B41FA5}">
                      <a16:colId xmlns:a16="http://schemas.microsoft.com/office/drawing/2014/main" val="1679621392"/>
                    </a:ext>
                  </a:extLst>
                </a:gridCol>
              </a:tblGrid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Class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Images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Train / Val / Test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Sources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08859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 err="1"/>
                        <a:t>Normal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/>
                        <a:t>840 / 180 / 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3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78962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Tuberculosis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697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488 / 105 / 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6746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COVID-19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91 / 20 / 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50864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Pneumonia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841 / 180 / 179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5F5AA-4CCA-0F35-775E-D82A8F40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2B95-D9EF-73C9-2571-605BE1CA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Chest X-rays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86D94-1169-2DDF-97EB-518292760551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E257EE-981D-2773-9F85-9D75421C9D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832" y="1603618"/>
            <a:ext cx="12192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Chest X-rays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examples from the datasets used to train and test the models.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125" y="2311504"/>
            <a:ext cx="7551008" cy="383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58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80414"/>
            <a:ext cx="114300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X-rays are black-and-white, but our models expect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images, so we load each X-ray as 3 channels (RGB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Resize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image is resized to the size its model needs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224, or 150 pixels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scale the pixel values so the model reads them correctly. The two pre-trained models use their original scaling; the custom CNN scales pixels to a 0–1 range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 (training only):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 we randomly flip, rotate, zoom, shift, and change contrast of images to give the model more variety and stop it memorizing.</a:t>
            </a:r>
          </a:p>
          <a:p>
            <a:pPr marL="0" indent="0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when live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 real user uploads an X-ray, we apply the exact same reading and resizing steps as in training, so the model behaves consistently.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49134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8" name="Picture 7" descr="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00" y="1470000"/>
            <a:ext cx="10600000" cy="4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8" name="Picture 7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00" y="1470000"/>
            <a:ext cx="10600000" cy="4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2B6A-E3BD-C5AF-AFD3-A4491FEFF75A}"/>
              </a:ext>
            </a:extLst>
          </p:cNvPr>
          <p:cNvSpPr txBox="1"/>
          <p:nvPr/>
        </p:nvSpPr>
        <p:spPr>
          <a:xfrm>
            <a:off x="435497" y="1820939"/>
            <a:ext cx="11321006" cy="253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shared dataset: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architectures train on the same 4-class data, splits, augmentation and classification head.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 and DenseNet121: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from ImageNet, then fine-tuned on the chest X-ray data.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from scratch, so the benefit of pre-training can be measured directly.</a:t>
            </a: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run on every upload and give independent verdicts over the same four classes.</a:t>
            </a:r>
          </a:p>
        </p:txBody>
      </p:sp>
    </p:spTree>
    <p:extLst>
      <p:ext uri="{BB962C8B-B14F-4D97-AF65-F5344CB8AC3E}">
        <p14:creationId xmlns:p14="http://schemas.microsoft.com/office/powerpoint/2010/main" val="383689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These Three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82B6A-E3BD-C5AF-AFD3-A4491FEFF75A}"/>
              </a:ext>
            </a:extLst>
          </p:cNvPr>
          <p:cNvSpPr txBox="1"/>
          <p:nvPr/>
        </p:nvSpPr>
        <p:spPr>
          <a:xfrm>
            <a:off x="331799" y="1794813"/>
            <a:ext cx="1132100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transfer-learning baseline that reaches good accuracy from a compact design.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dense connections reuse features from every earlier layer, which suits subtle medical patterns.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from scratch, it measures how much ImageNet pre-training actually contributes.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only three: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answers a different question, so adding more would raise training cost without adding insight.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comparison: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share one dataset, one split, the same augmentation and the same epoch budget, so the backbone is the main variable.</a:t>
            </a:r>
          </a:p>
        </p:txBody>
      </p:sp>
    </p:spTree>
    <p:extLst>
      <p:ext uri="{BB962C8B-B14F-4D97-AF65-F5344CB8AC3E}">
        <p14:creationId xmlns:p14="http://schemas.microsoft.com/office/powerpoint/2010/main" val="383689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Model Architectures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8" name="Picture 7" descr="methodology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00" y="1470000"/>
            <a:ext cx="10600000" cy="4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F74362A-AAC3-4F98-4C1F-593C1AD4B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452" y="2214606"/>
            <a:ext cx="10413593" cy="2593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split: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training, 15% validation and 15% test, created once and reused by every model.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by patient: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images of one patient stay in a single split, so nothing leaks between train and test.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2,260 training, 485 validation and 482 test images.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 set is never seen during training, so the reported accuracy is honest.</a:t>
            </a:r>
          </a:p>
        </p:txBody>
      </p:sp>
    </p:spTree>
    <p:extLst>
      <p:ext uri="{BB962C8B-B14F-4D97-AF65-F5344CB8AC3E}">
        <p14:creationId xmlns:p14="http://schemas.microsoft.com/office/powerpoint/2010/main" val="1115882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64" y="1763485"/>
            <a:ext cx="11528322" cy="167204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compared several architectures before choosing our models.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reuses ImageNet features and trains only a small head, which is ideal for small medical datasets.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83843"/>
              </p:ext>
            </p:extLst>
          </p:nvPr>
        </p:nvGraphicFramePr>
        <p:xfrm>
          <a:off x="448489" y="3272245"/>
          <a:ext cx="11411672" cy="298486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852918">
                  <a:extLst>
                    <a:ext uri="{9D8B030D-6E8A-4147-A177-3AD203B41FA5}">
                      <a16:colId xmlns:a16="http://schemas.microsoft.com/office/drawing/2014/main" val="2170686414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4061613076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2762325299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1679621392"/>
                    </a:ext>
                  </a:extLst>
                </a:gridCol>
              </a:tblGrid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Architecture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Test Accuracy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Role in Project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Ref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08859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 err="1"/>
                        <a:t>EfficientNetB3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82.99%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/>
                        <a:t>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[1]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78962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DenseNet121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90.87%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Best performer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[2]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6746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Custom CNN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90.25%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Trained from scratch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N/A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5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EfficientNetB3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60" name="Methodology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1665643"/>
            <a:ext cx="11000000" cy="44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90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32D5-E82A-F90C-4E03-3E125018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1C24-477C-FCF9-3BAB-7C687CAB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EfficientNetB3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3B7B90-B74B-4F4C-BF35-FE746810EBC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73ED3F6-50B1-D57E-6291-CDB2CF78F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658389"/>
            <a:ext cx="11430000" cy="429906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(256x256x3):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chest X-ray is resized to 256x256 and scaled for EfficientNet, so every image enters the network in the same format.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 base (frozen):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on ImageNet and used as a fixed feature extractor, so it already knows generic visual patterns and is not retrained.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step by step: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reads simple edges first, then textures, and finally the larger shapes and opacities that signal TB in the lungs.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frozen: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freezing the base keeps training fast and prevents overfitting, which matters on a small medical dataset.</a:t>
            </a:r>
          </a:p>
        </p:txBody>
      </p:sp>
    </p:spTree>
    <p:extLst>
      <p:ext uri="{BB962C8B-B14F-4D97-AF65-F5344CB8AC3E}">
        <p14:creationId xmlns:p14="http://schemas.microsoft.com/office/powerpoint/2010/main" val="3579235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C6F61-6B45-D2BF-4389-7E706F5B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6C5A-539A-8EA2-BD66-616C26B0F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EfficientNetB3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083DC-1940-E7AA-CD03-9AC6964E3B8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F23C17-3A3D-C930-7B51-AAFA1040E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82961"/>
            <a:ext cx="11430000" cy="5175039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 each feature map into a single number, giving one compact summary that describes the whole image.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focuses 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captures whether a useful feature is present anywhere, rather than the exact place where it appears.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ignores some neurons during training, so the model does not rely on any single feature and generalises better.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small classification head is trained on top, while the heavy EfficientNet base stays frozen underneath.</a:t>
            </a:r>
          </a:p>
        </p:txBody>
      </p:sp>
    </p:spTree>
    <p:extLst>
      <p:ext uri="{BB962C8B-B14F-4D97-AF65-F5344CB8AC3E}">
        <p14:creationId xmlns:p14="http://schemas.microsoft.com/office/powerpoint/2010/main" val="121816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C5279-2610-EEE8-6D43-0EB6DB45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42F2-1216-BE3D-5106-2E50BBC9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EfficientNetB3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34A06-6862-EACB-7C41-758E1D5AA916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3959987-DE99-1B80-754C-CFC987D04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06392"/>
            <a:ext cx="11430000" cy="429906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final dense layer produces four scores, one for each class, using softmax.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with the highest score is the classification, and that score is the confidence.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with the Adam optimiser and categorical cross-entropy until validation accuracy stops improving.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82.99% test accuracy on X-rays the model has never seen before.</a:t>
            </a:r>
          </a:p>
        </p:txBody>
      </p:sp>
    </p:spTree>
    <p:extLst>
      <p:ext uri="{BB962C8B-B14F-4D97-AF65-F5344CB8AC3E}">
        <p14:creationId xmlns:p14="http://schemas.microsoft.com/office/powerpoint/2010/main" val="1143200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DenseNet121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61" name="Methodology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1665643"/>
            <a:ext cx="11000000" cy="44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90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3F1F0-716E-C52C-A816-3ACFE244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7505-AE75-187D-9C62-41AE6AD9E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DenseNet121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DBD27-699B-2CB5-8217-A3E81874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576" y="1706550"/>
            <a:ext cx="11422848" cy="4299065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 is our COVID model. Its dense connections let each layer reuse features from all earlier layers, which is great for subtle medical patterns.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224x224 colour X-ray is prepared with DenseNet's own preprocessing before it enters the network.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features pass through pooling, a dense layer with dropout, and then the output layer that makes the decision.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classifies an X-ray as Normal, Tuberculosis, COVID-19 or Pneumonia.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data augmentation on the unified dataset, to get the most from limited data.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F0297-1C2A-21DA-CE4E-F80996D44341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1791412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Custom CNN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62" name="Methodology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1665643"/>
            <a:ext cx="11000000" cy="445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90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Custom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839" y="1722112"/>
            <a:ext cx="11528322" cy="4664174"/>
          </a:xfrm>
        </p:spPr>
        <p:txBody>
          <a:bodyPr rtlCol="0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from scratch: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uses no pre-trained weights, so it learns every pattern directly from the pneumonia X-rays.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150x150 colour image is rescaled so its pixel values sit in a small, consistent range.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convolution blocks: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filters grows block by block, letting the network capture more detail as it goes deeper.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block: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convolution finds patterns, normalisation stabilises training, and pooling shrinks the image to stay efficient.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feature maps are flattened into a vector and passed to a dense layer that makes the decision.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probability for each of the four classes, and the highest one is the classification.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reaches 90.25% accuracy on the unified test set.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FE309-C979-348C-9CB9-F5FFAF75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1913-3822-0E62-B826-4937CE4B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Model: DenseNet121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DEB5-7354-6ACD-FF36-8A9D6B84F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095" y="1658983"/>
            <a:ext cx="6936003" cy="496316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482 unseen chest X-rays spanning all four classes.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90.87%, the strongest of the three architectures.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accuracy: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89.14%, which weights every class equally regardless of size.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and Tuberculosis are detected most reliably.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B05993-F08A-F8FD-E5DA-2CB68E5A9D3A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5586D4-FEBF-0048-89B6-54E5EF0CB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431596"/>
              </p:ext>
            </p:extLst>
          </p:nvPr>
        </p:nvGraphicFramePr>
        <p:xfrm>
          <a:off x="7681147" y="1807997"/>
          <a:ext cx="4192803" cy="2523109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546588">
                  <a:extLst>
                    <a:ext uri="{9D8B030D-6E8A-4147-A177-3AD203B41FA5}">
                      <a16:colId xmlns:a16="http://schemas.microsoft.com/office/drawing/2014/main" val="3633954396"/>
                    </a:ext>
                  </a:extLst>
                </a:gridCol>
                <a:gridCol w="1646215">
                  <a:extLst>
                    <a:ext uri="{9D8B030D-6E8A-4147-A177-3AD203B41FA5}">
                      <a16:colId xmlns:a16="http://schemas.microsoft.com/office/drawing/2014/main" val="3342183239"/>
                    </a:ext>
                  </a:extLst>
                </a:gridCol>
              </a:tblGrid>
              <a:tr h="418451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048965"/>
                  </a:ext>
                </a:extLst>
              </a:tr>
              <a:tr h="418451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Accuracy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90.87% (482 images)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401985"/>
                  </a:ext>
                </a:extLst>
              </a:tr>
              <a:tr h="73228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Accuracy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48694"/>
                  </a:ext>
                </a:extLst>
              </a:tr>
              <a:tr h="73228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34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704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4CBFC-38A3-0E54-24D7-DB5E4957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FB49-74CF-952B-00CF-CE27D05F7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8671-E521-49D1-D7B2-D59E7D4E9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99" y="1667410"/>
            <a:ext cx="11139293" cy="484877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Upload: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uploads a chest X-ray.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Validate: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checks the image really is a chest radiograph.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Preprocess: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scale to match each model.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Classify: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models output a class and its confidence.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Show result: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model's scores and whether they agree appear on the results page.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147C3A-A35D-D237-5C8E-32DD5DD13E8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2119384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8" name="Picture 7" descr="gat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00" y="1470000"/>
            <a:ext cx="10600000" cy="486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39338-16C3-D310-BA58-34CA1163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A03E-A511-A61F-80AF-31195D48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265D3-C66D-616D-A6FE-D2AFC4561F86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F1F4C7-1C58-C4F6-AD57-5F7DC63E9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51" y="1689383"/>
            <a:ext cx="10515600" cy="435133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and Keras to build, train, and evaluate the models.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EfficientNetB3, DenseNet121 (Keras Applications), and a custom CNN.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and Werkzeug serve all three models from one page.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&amp; Data: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OpenCV, NumPy, Pillow, Pandas, and Scikit-learn.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for the accuracy graph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3865548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CE54E-778F-8886-A1A1-67E41E30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10DE-9372-80F5-231E-D8A8686C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App Demonstration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6F6164-B4F4-09CD-2DCE-69CCED0B8336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3_tb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0934"/>
            <a:ext cx="5394960" cy="3793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Tuberculosis detection</a:t>
            </a:r>
          </a:p>
        </p:txBody>
      </p:sp>
      <p:pic>
        <p:nvPicPr>
          <p:cNvPr id="7" name="Picture 6" descr="2_covid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03" y="1737360"/>
            <a:ext cx="5337474" cy="37587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56692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COVID-19 detection</a:t>
            </a:r>
          </a:p>
        </p:txBody>
      </p:sp>
    </p:spTree>
    <p:extLst>
      <p:ext uri="{BB962C8B-B14F-4D97-AF65-F5344CB8AC3E}">
        <p14:creationId xmlns:p14="http://schemas.microsoft.com/office/powerpoint/2010/main" val="1775348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70FF-EA2C-E09A-64BD-E78C0852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D66A3-A4DA-1B43-56DF-C2DFBC62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App: Classification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FB79A-51BC-DBB3-639C-C141CEFC2EAB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pic>
        <p:nvPicPr>
          <p:cNvPr id="5" name="Picture 4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5945"/>
            <a:ext cx="3657600" cy="257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526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Home page</a:t>
            </a:r>
          </a:p>
        </p:txBody>
      </p:sp>
      <p:pic>
        <p:nvPicPr>
          <p:cNvPr id="7" name="Picture 6" descr="4_pneumonia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45945"/>
            <a:ext cx="3657600" cy="257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60" y="4526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Pneumonia detection</a:t>
            </a:r>
          </a:p>
        </p:txBody>
      </p:sp>
      <p:pic>
        <p:nvPicPr>
          <p:cNvPr id="9" name="Picture 8" descr="5_xray_gu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45945"/>
            <a:ext cx="3657600" cy="2571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4526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/>
              <a:t>Non X-ray rejected</a:t>
            </a:r>
          </a:p>
        </p:txBody>
      </p:sp>
    </p:spTree>
    <p:extLst>
      <p:ext uri="{BB962C8B-B14F-4D97-AF65-F5344CB8AC3E}">
        <p14:creationId xmlns:p14="http://schemas.microsoft.com/office/powerpoint/2010/main" val="149506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graphicFrame>
        <p:nvGraphicFramePr>
          <p:cNvPr id="77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83843"/>
              </p:ext>
            </p:extLst>
          </p:nvPr>
        </p:nvGraphicFramePr>
        <p:xfrm>
          <a:off x="409725" y="1773365"/>
          <a:ext cx="11411672" cy="4477302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852918">
                  <a:extLst>
                    <a:ext uri="{9D8B030D-6E8A-4147-A177-3AD203B41FA5}">
                      <a16:colId xmlns:a16="http://schemas.microsoft.com/office/drawing/2014/main" val="2170686414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4061613076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2762325299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1679621392"/>
                    </a:ext>
                  </a:extLst>
                </a:gridCol>
              </a:tblGrid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Metric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Formula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What it measures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Ideal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08859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 err="1"/>
                        <a:t>Accuracy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(TP + TN) /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/>
                        <a:t>overall share classified correctly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78962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Precision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TP / (TP + 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how much a positive flag can be trusted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6746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Recall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TP / (TP + FN)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share of real cases the model catches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50864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F1 Score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2PR / (P + 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balance between precision and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Balanced Accuracy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mean of per-class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fairness across unequal class sizes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by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0" name="HeadA"/>
          <p:cNvSpPr txBox="1"/>
          <p:nvPr/>
        </p:nvSpPr>
        <p:spPr>
          <a:xfrm>
            <a:off x="760000" y="1470000"/>
            <a:ext cx="10600000" cy="330000"/>
          </a:xfrm>
          <a:prstGeom prst="rect">
            <a:avLst/>
          </a:prstGeom>
        </p:spPr>
        <p:txBody>
          <a:bodyPr rtlCol="0">
            <a:normAutofit fontScale="92500" lnSpcReduction="10000"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Models: Test Accuracy (482 test images)</a:t>
            </a:r>
          </a:p>
        </p:txBody>
      </p:sp>
      <p:graphicFrame>
        <p:nvGraphicFramePr>
          <p:cNvPr id="11" name="TableA"/>
          <p:cNvGraphicFramePr/>
          <p:nvPr/>
        </p:nvGraphicFramePr>
        <p:xfrm>
          <a:off x="760000" y="1830000"/>
          <a:ext cx="10600000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four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four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four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HeadB"/>
          <p:cNvSpPr txBox="1"/>
          <p:nvPr/>
        </p:nvSpPr>
        <p:spPr>
          <a:xfrm>
            <a:off x="760000" y="3796857"/>
            <a:ext cx="10600000" cy="330000"/>
          </a:xfrm>
          <a:prstGeom prst="rect">
            <a:avLst/>
          </a:prstGeom>
        </p:spPr>
        <p:txBody>
          <a:bodyPr rtlCol="0">
            <a:normAutofit fontScale="92500" lnSpcReduction="10000"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Per-Class Metrics</a:t>
            </a:r>
          </a:p>
        </p:txBody>
      </p:sp>
      <p:graphicFrame>
        <p:nvGraphicFramePr>
          <p:cNvPr id="13" name="TableB"/>
          <p:cNvGraphicFramePr/>
          <p:nvPr/>
        </p:nvGraphicFramePr>
        <p:xfrm>
          <a:off x="760000" y="4260000"/>
          <a:ext cx="10600000" cy="2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Tuberculosis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COVID-19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Pneumonia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Caption"/>
          <p:cNvSpPr txBox="1"/>
          <p:nvPr/>
        </p:nvSpPr>
        <p:spPr>
          <a:xfrm>
            <a:off x="760000" y="5760000"/>
            <a:ext cx="10600000" cy="360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algn="l"/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92331-D18B-4435-8569-D14182413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64" y="1763485"/>
            <a:ext cx="11528322" cy="1672047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Like-for-like: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data, splits, augmentation, classification head and epoch budget; only the backbone differs.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56FF2B-9A11-D04B-8165-90D84392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83584"/>
              </p:ext>
            </p:extLst>
          </p:nvPr>
        </p:nvGraphicFramePr>
        <p:xfrm>
          <a:off x="448489" y="2784200"/>
          <a:ext cx="11411672" cy="298486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852918">
                  <a:extLst>
                    <a:ext uri="{9D8B030D-6E8A-4147-A177-3AD203B41FA5}">
                      <a16:colId xmlns:a16="http://schemas.microsoft.com/office/drawing/2014/main" val="2170686414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4061613076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2762325299"/>
                    </a:ext>
                  </a:extLst>
                </a:gridCol>
                <a:gridCol w="2852918">
                  <a:extLst>
                    <a:ext uri="{9D8B030D-6E8A-4147-A177-3AD203B41FA5}">
                      <a16:colId xmlns:a16="http://schemas.microsoft.com/office/drawing/2014/main" val="1679621392"/>
                    </a:ext>
                  </a:extLst>
                </a:gridCol>
              </a:tblGrid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Model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Parameters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Test Accuracy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/>
                        <a:t>Macro F1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08859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 err="1"/>
                        <a:t>DenseNet121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7,300,932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90.87%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0.864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78962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Custom CNN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1,247,364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90.25%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0.835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967466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b="1" dirty="0"/>
                        <a:t>EfficientNetB3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11,178,035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82.99%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/>
                        <a:t>0.745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55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08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6DF8-84D3-6DF3-0B08-8A0EFFC4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00A-6CBF-3C91-6D58-CA205FBB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Model Accuracy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95782-9CD3-17C3-108C-1BA2DE7BC367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8F727B-9A4A-9CBD-3CFC-291C6D98C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13" y="1762464"/>
            <a:ext cx="6309360" cy="4623822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90.87% test accuracy on 482 unseen X-rays.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90.25% test accuracy, with six times fewer parameters.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82.99% test accuracy.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strongest models are close, and both generalise well to unseen X-rays.</a:t>
            </a:r>
          </a:p>
        </p:txBody>
      </p:sp>
      <p:pic>
        <p:nvPicPr>
          <p:cNvPr id="8" name="Picture 7" descr="mode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73" y="1932283"/>
            <a:ext cx="5257798" cy="297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79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AB516-1DFC-E017-8C3B-FD856BD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BBF2-067D-1416-6BD0-658D38AA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 DenseNet121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9F71C0-02CE-2731-40AE-F186A4D9246F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610DB7D-D26F-2E40-758A-072E66F27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26" y="1695812"/>
            <a:ext cx="5257800" cy="435133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shows: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DenseNet121 model on all 482 test X-rays across the four classes.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diagonal: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classifications fall on the diagonal, meaning they are correct.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detected: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(175 of 179) and Tuberculosis (92 of 104).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confusion: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Normal X-rays are read as Pneumonia, the hardest pair to separate.</a:t>
            </a:r>
          </a:p>
        </p:txBody>
      </p:sp>
      <p:pic>
        <p:nvPicPr>
          <p:cNvPr id="8" name="Picture 7" descr="covid_confusion_matrix_2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571" y="1800517"/>
            <a:ext cx="4815137" cy="436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83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8426-0369-1EDE-3F23-308D9DB83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99" y="1750000"/>
            <a:ext cx="5850000" cy="4630000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90.87% test accuracy, the best of the three.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90.25% test accuracy, using six times fewer parameters.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EfficientNetB3: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82.99% test accuracy, the weakest despite being the largest.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enough data the from-scratch CNN nearly matches the pre-trained DenseNet121.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the chart: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taller bars mean higher accuracy on unseen X-rays.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650000" y="1750000"/>
          <a:ext cx="5150000" cy="40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&amp; Challenges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6AC33-394E-7B13-CE35-B9A3E06738E9}"/>
              </a:ext>
            </a:extLst>
          </p:cNvPr>
          <p:cNvSpPr txBox="1"/>
          <p:nvPr/>
        </p:nvSpPr>
        <p:spPr>
          <a:xfrm>
            <a:off x="340370" y="1585969"/>
            <a:ext cx="11511260" cy="2935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Small, imbalanced datasets.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X-ray data is limited. Our approach: data augmentation (rotation, zoom, flips) to add variety.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Risk of overfitting.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datasets can make a model memorise. Our approach: dropout, early stopping, and lowering the learning rate.</a:t>
            </a:r>
          </a:p>
          <a:p>
            <a:pPr algn="l"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choice.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models can underfit. Our approach: transfer learning (EfficientNetB3, DenseNet121) for strong features.</a:t>
            </a:r>
          </a:p>
        </p:txBody>
      </p:sp>
    </p:spTree>
    <p:extLst>
      <p:ext uri="{BB962C8B-B14F-4D97-AF65-F5344CB8AC3E}">
        <p14:creationId xmlns:p14="http://schemas.microsoft.com/office/powerpoint/2010/main" val="2685490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8C87C-42BC-58FB-612F-9CFC677B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AD2-6274-EE8E-8D8D-2F290C028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8426-0369-1EDE-3F23-308D9DB83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98" y="1773365"/>
            <a:ext cx="11139293" cy="484877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COVID-19 class: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130 COVID images exist, so that class stays the weakest by a wide margin.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has far fewer images than the other classes, which lowers its precision.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validation: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tested on held-out data, not on other hospitals' scans.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angles, artifacts or low-quality scans can lower accuracy.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diagnosis: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screening aid and cannot replace a radiologist.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28D08-24D5-C2A4-A1C3-ABA780A9349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</p:spTree>
    <p:extLst>
      <p:ext uri="{BB962C8B-B14F-4D97-AF65-F5344CB8AC3E}">
        <p14:creationId xmlns:p14="http://schemas.microsoft.com/office/powerpoint/2010/main" val="3539668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0115D-8CFC-0765-D11F-ED519634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E0CD4-90A3-7F64-0EFE-3B3D25C7D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0ADDC2-AC77-71CA-C966-7E6A5671DC14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DA4DF2-0F28-9FD4-85B0-070E28A29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1" y="1689383"/>
            <a:ext cx="10629122" cy="4351338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system: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models detect four classes from a single chest X-ray.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DenseNet121 90.87%, Custom CNN 90.25% and EfficientNetB3 82.99% test accuracy.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comparison: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all three on one shared dataset made the architecture comparison meaningful.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lesson: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training data improved every model far more than longer training did.</a:t>
            </a:r>
          </a:p>
          <a:p>
            <a:pPr marL="0" indent="0" algn="l">
              <a:lnSpc>
                <a:spcPct val="150000"/>
              </a:lnSpc>
              <a:spcBef>
                <a:spcPts val="50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run in one Flask web app with a built-in chest X-ray check.</a:t>
            </a:r>
          </a:p>
        </p:txBody>
      </p:sp>
    </p:spTree>
    <p:extLst>
      <p:ext uri="{BB962C8B-B14F-4D97-AF65-F5344CB8AC3E}">
        <p14:creationId xmlns:p14="http://schemas.microsoft.com/office/powerpoint/2010/main" val="4195367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E2C5-CAEE-4BFF-A050-E4483535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82130A-083C-47B4-A772-5E815BDBD8E9}"/>
              </a:ext>
            </a:extLst>
          </p:cNvPr>
          <p:cNvSpPr/>
          <p:nvPr/>
        </p:nvSpPr>
        <p:spPr>
          <a:xfrm>
            <a:off x="0" y="6386286"/>
            <a:ext cx="12192000" cy="47171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 For Lung Diseases Detection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7516BD4-D1C5-A357-09A1-FE8B71D2C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2" y="1689383"/>
            <a:ext cx="10652185" cy="4351338"/>
          </a:xfrm>
        </p:spPr>
        <p:txBody>
          <a:bodyPr numCol="1" spcCol="27432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Tan and Q. V. Le, "EfficientNet: Rethinking Model Scaling for CNNs," in Proc. ICML, 2019.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G. Huang, Z. Liu, et al., "Densely Connected Convolutional Networks," in Proc. CVPR, 2017.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T. Rahman et al., "Reliable Tuberculosis Detection Using Chest X-ray," IEEE Access, vol. 8, 2020.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P. Mooney, "Chest X-Ray Images (Pneumonia)," Kaggle Dataset, 2018.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K. He, X. Zhang, et al., "Deep Residual Learning for Image Recognition," in Proc. CVPR, 2016.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C. Szegedy et al., "Rethinking the Inception Architecture for Computer Vision," in Proc. CVPR, 2016.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K. Simonyan and A. Zisserman, "Very Deep Convolutional Networks (VGG)," in Proc. ICLR, 2015.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D. P. Kingma and J. Ba, "Adam: A Method for Stochastic Optimization," in Proc. ICLR, 2015.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N. Srivastava et al., "Dropout: A Simple Way to Prevent Overfitting," JMLR, vol. 15, 2014.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S. Ioffe and C. Szegedy, "Batch Normalization," in Proc. ICML, 2015.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R. R. Selvaraju et al., "Grad-CAM: Visual Explanations from Deep Networks," in Proc. ICCV, 2017.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J. Deng et al., "ImageNet: A Large-Scale Hierarchical Image Database," in Proc. CVPR, 2009.</a:t>
            </a: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TensorFlow and Keras Documentation, tensorflow.org; Flask Documentation, 2024.</a:t>
            </a:r>
          </a:p>
        </p:txBody>
      </p:sp>
    </p:spTree>
    <p:extLst>
      <p:ext uri="{BB962C8B-B14F-4D97-AF65-F5344CB8AC3E}">
        <p14:creationId xmlns:p14="http://schemas.microsoft.com/office/powerpoint/2010/main" val="3334425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10915</TotalTime>
  <Words>3919</Words>
  <Application>Microsoft Office PowerPoint</Application>
  <PresentationFormat>Widescreen</PresentationFormat>
  <Paragraphs>404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Office Theme</vt:lpstr>
      <vt:lpstr>AI Agent For Lung Diseases Detection</vt:lpstr>
      <vt:lpstr>Overview of Presentation</vt:lpstr>
      <vt:lpstr>Introduction</vt:lpstr>
      <vt:lpstr>Aim &amp; Objectives</vt:lpstr>
      <vt:lpstr>Problem Statement</vt:lpstr>
      <vt:lpstr>Why Chest X-rays as Input</vt:lpstr>
      <vt:lpstr>Why These Three Diseases</vt:lpstr>
      <vt:lpstr>Literature Review</vt:lpstr>
      <vt:lpstr>Literature Review</vt:lpstr>
      <vt:lpstr>Research Gap</vt:lpstr>
      <vt:lpstr>Datasets</vt:lpstr>
      <vt:lpstr>Dataset Properties</vt:lpstr>
      <vt:lpstr>Sample Chest X-rays</vt:lpstr>
      <vt:lpstr>Preprocessing Techniques</vt:lpstr>
      <vt:lpstr>Preprocessing Pipeline</vt:lpstr>
      <vt:lpstr>Overall System Architecture</vt:lpstr>
      <vt:lpstr>Methodology</vt:lpstr>
      <vt:lpstr>Why These Three Models</vt:lpstr>
      <vt:lpstr>Methodology: Model Architectures</vt:lpstr>
      <vt:lpstr>Data Splitting</vt:lpstr>
      <vt:lpstr>Model Development</vt:lpstr>
      <vt:lpstr>Methodology: EfficientNetB3</vt:lpstr>
      <vt:lpstr>Model Architecture: EfficientNetB3</vt:lpstr>
      <vt:lpstr>Model Architecture: EfficientNetB3</vt:lpstr>
      <vt:lpstr>Model Architecture: EfficientNetB3</vt:lpstr>
      <vt:lpstr>Methodology: DenseNet121</vt:lpstr>
      <vt:lpstr>Model Architecture: DenseNet121</vt:lpstr>
      <vt:lpstr>Methodology: Custom CNN</vt:lpstr>
      <vt:lpstr>Model Architecture: Custom CNN</vt:lpstr>
      <vt:lpstr>Best Model: DenseNet121</vt:lpstr>
      <vt:lpstr>Application Workflow</vt:lpstr>
      <vt:lpstr>Input Validation Pipeline</vt:lpstr>
      <vt:lpstr>Tools and Technologies Used</vt:lpstr>
      <vt:lpstr>Live App Demonstration</vt:lpstr>
      <vt:lpstr>Web App: Classification Results</vt:lpstr>
      <vt:lpstr>Evaluation Metrics</vt:lpstr>
      <vt:lpstr>Evaluation Metrics by Model</vt:lpstr>
      <vt:lpstr>Model Comparison</vt:lpstr>
      <vt:lpstr>Results: Model Accuracy</vt:lpstr>
      <vt:lpstr>Confusion Matrix: DenseNet121</vt:lpstr>
      <vt:lpstr>Results Evaluation</vt:lpstr>
      <vt:lpstr>Model Performance &amp; Challenges</vt:lpstr>
      <vt:lpstr>Limitations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Sadia Muqaddas</dc:creator>
  <cp:lastModifiedBy>Moorche</cp:lastModifiedBy>
  <cp:revision>453</cp:revision>
  <cp:lastPrinted>2019-04-16T10:28:18Z</cp:lastPrinted>
  <dcterms:created xsi:type="dcterms:W3CDTF">2018-02-23T07:13:22Z</dcterms:created>
  <dcterms:modified xsi:type="dcterms:W3CDTF">2026-09-03T06:49:39Z</dcterms:modified>
</cp:coreProperties>
</file>